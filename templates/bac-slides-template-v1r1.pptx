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3dffce0c-51c5-56e0-3926-4d692ab6e82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Title, light (Ops): internal and technical decks. The right half is a photo slot – real hardware, true to life, no filters (Identity Guide §6). Delete the slot for a text-only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Title, Mission (dark hero): outward-facing decks only. The eyebrow takes Plasma Rose, the kicker stays BAC Yellow. The viewport on the right is the product-render slot; a photo or a CAD-derived outline both belong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Composed on the title-only layout. One hero card per deck lifts the single most important item (info blue, white text, the short red rule is decorative – Identity Guide §6). Stats are sunken cards: mono source label, mono figure, sans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on the title-only layout: a --border-strong line, hollow marks, the current step filled BAC Yellow (the one dominant yellow use on the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Tables: a strong header rule, hairline row rules, no outer border and no fills (Identity Guide §5.4). Header labels in mono uppercase, values in IBM Plex Mono.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TITLE_MISSION-image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SECTION_MISSION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CONTACT-image-2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5120640" y="0"/>
            <a:ext cx="4023360" cy="514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A8A8A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A8A8A"/>
                </a:solidFill>
              </a:rPr>
              <a:t>Hardware photo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739988" cy="731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145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57200" y="1920240"/>
            <a:ext cx="4389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spc="-80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1F1F1F"/>
                </a:solidFill>
              </a:rPr>
              <a:t>Title</a:t>
            </a:r>
            <a:endParaRPr lang="en-US" sz="4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5720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8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3F3F3F"/>
                </a:solidFill>
              </a:rPr>
              <a:t>Body</a:t>
            </a:r>
            <a:endParaRPr lang="en-US" sz="18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SSIO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868680"/>
            <a:ext cx="3429000" cy="257175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hasCustomPrompt="1"/>
          </p:nvPr>
        </p:nvSpPr>
        <p:spPr>
          <a:xfrm>
            <a:off x="5440680" y="1051560"/>
            <a:ext cx="3063240" cy="206883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F879E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F879E"/>
                </a:solidFill>
              </a:rPr>
              <a:t>Product image</a:t>
            </a: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0" y="313867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4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IMAGE · 4:3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739988" cy="7315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7145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8" name="Text 2"/>
          <p:cNvSpPr/>
          <p:nvPr>
            <p:ph idx="106" type="title" hasCustomPrompt="1"/>
          </p:nvPr>
        </p:nvSpPr>
        <p:spPr>
          <a:xfrm>
            <a:off x="457200" y="1920240"/>
            <a:ext cx="4480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spc="-80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F4F1EA"/>
                </a:solidFill>
              </a:rPr>
              <a:t>Title</a:t>
            </a:r>
            <a:endParaRPr lang="en-US" sz="40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45720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800" dirty="0">
                <a:solidFill>
                  <a:srgbClr val="8F879E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8F879E"/>
                </a:solidFill>
              </a:rPr>
              <a:t>Body</a:t>
            </a:r>
            <a:endParaRPr lang="en-US" sz="1800" dirty="0"/>
          </a:p>
        </p:txBody>
      </p:sp>
      <p:sp>
        <p:nvSpPr>
          <p:cNvPr id="10" name="Text 2"/>
          <p:cNvSpPr/>
          <p:nvPr>
            <p:ph idx="108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87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00000"/>
              </a:lnSpc>
              <a:buNone/>
              <a:defRPr lang="en-US" sz="88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spc="-88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1F1F1F"/>
                </a:solidFill>
              </a:rPr>
              <a:t>Title</a:t>
            </a:r>
            <a:endParaRPr lang="en-US" sz="4400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IS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87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00000"/>
              </a:lnSpc>
              <a:buNone/>
              <a:defRPr lang="en-US" sz="8800" dirty="0">
                <a:solidFill>
                  <a:srgbClr val="3B33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3B33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spc="-88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Title</a:t>
            </a:r>
            <a:endParaRPr lang="en-US" sz="4400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8F879E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417320"/>
            <a:ext cx="8229600" cy="30861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6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Body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417320"/>
            <a:ext cx="3931920" cy="30861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6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Body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754880" y="1417320"/>
            <a:ext cx="3931920" cy="30861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6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Body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3749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828800"/>
            <a:ext cx="37490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4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Body</a:t>
            </a:r>
            <a:endParaRPr lang="en-US" sz="1400" dirty="0"/>
          </a:p>
        </p:txBody>
      </p:sp>
      <p:sp>
        <p:nvSpPr>
          <p:cNvPr id="6" name="Shape 1"/>
          <p:cNvSpPr/>
          <p:nvPr/>
        </p:nvSpPr>
        <p:spPr>
          <a:xfrm>
            <a:off x="4572000" y="777240"/>
            <a:ext cx="4114800" cy="3337560"/>
          </a:xfrm>
          <a:prstGeom prst="rect">
            <a:avLst>
              <a:gd name="adj" fmla="val 2740"/>
            </a:avLst>
          </a:prstGeom>
          <a:solidFill>
            <a:srgbClr val="F1F1F1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7" name="Text 2"/>
          <p:cNvSpPr/>
          <p:nvPr>
            <p:ph idx="105" hasCustomPrompt="1"/>
          </p:nvPr>
        </p:nvSpPr>
        <p:spPr>
          <a:xfrm>
            <a:off x="4709160" y="914400"/>
            <a:ext cx="3840480" cy="3063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A8A8A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A8A8A"/>
                </a:solidFill>
              </a:rPr>
              <a:t>Picture</a:t>
            </a:r>
            <a:endParaRPr lang="en-US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572000" y="4187952"/>
            <a:ext cx="4114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01 · WHAT THE PICTURE SHOWS</a:t>
            </a:r>
            <a:endParaRPr lang="en-US" sz="900" dirty="0"/>
          </a:p>
        </p:txBody>
      </p:sp>
      <p:sp>
        <p:nvSpPr>
          <p:cNvPr id="9" name="Text 2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457200" y="1417320"/>
            <a:ext cx="8229600" cy="30861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3F3F3F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3F3F3F"/>
                </a:solidFill>
              </a:rPr>
              <a:t>Table</a:t>
            </a: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E6E6E6"/>
                </a:solidFill>
              </a:rPr>
              <a:t>“</a:t>
            </a:r>
            <a:endParaRPr lang="en-US" sz="15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1508760"/>
            <a:ext cx="8229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0000"/>
              </a:lnSpc>
              <a:buNone/>
              <a:defRPr lang="en-US" sz="3600" spc="-72" kern="0" dirty="0">
                <a:solidFill>
                  <a:srgbClr val="1F1F1F"/>
                </a:solidFill>
              </a:defRPr>
            </a:lvl1pPr>
          </a:lstStyle>
          <a:p>
            <a:pPr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1F1F1F"/>
                </a:solidFill>
              </a:rPr>
              <a:t>Quote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3611880"/>
            <a:ext cx="457200" cy="18288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 · ROLE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57487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spc="-88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278892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spcAft>
                <a:spcPts val="400"/>
              </a:spcAft>
              <a:buNone/>
              <a:def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4759452"/>
            <a:ext cx="5486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DECK NAME · 2026-10-27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0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DECK TYPE · OCTOBER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19202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1F1F1F"/>
                </a:solidFill>
              </a:rPr>
              <a:t>Open hardware, built to be understood.</a:t>
            </a:r>
            <a:endParaRPr lang="en-US" sz="40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45720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3F3F3F"/>
                </a:solidFill>
              </a:rPr>
              <a:t>One sentence on what this deck is for and who it is for.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6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 · V0.1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 KIT · OCTOBER 2026</a:t>
            </a:r>
            <a:endParaRPr lang="en-US" sz="1000" dirty="0"/>
          </a:p>
        </p:txBody>
      </p:sp>
      <p:sp>
        <p:nvSpPr>
          <p:cNvPr id="3" name="Text 2"/>
          <p:cNvSpPr/>
          <p:nvPr>
            <p:ph idx="106" type="title" hasCustomPrompt="1"/>
          </p:nvPr>
        </p:nvSpPr>
        <p:spPr>
          <a:xfrm>
            <a:off x="457200" y="19202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F4F1EA"/>
                </a:solidFill>
              </a:rPr>
              <a:t>Space is for everyone.</a:t>
            </a:r>
            <a:endParaRPr lang="en-US" sz="4000" dirty="0"/>
          </a:p>
        </p:txBody>
      </p:sp>
      <p:sp>
        <p:nvSpPr>
          <p:cNvPr id="4" name="Text 2"/>
          <p:cNvSpPr/>
          <p:nvPr>
            <p:ph idx="107" type="body" hasCustomPrompt="1"/>
          </p:nvPr>
        </p:nvSpPr>
        <p:spPr>
          <a:xfrm>
            <a:off x="457200" y="3931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8F879E"/>
                </a:solidFill>
              </a:rPr>
              <a:t>The Mission variant for outward-facing decks: sales, media, launches.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8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440680" y="1051560"/>
            <a:ext cx="3063240" cy="2068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1F1F1F"/>
                </a:solidFill>
              </a:rPr>
              <a:t>Section divider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3B33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Section divider on the Mission surface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8F879E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 and body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417320"/>
            <a:ext cx="82296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Sentence case for titles and prose, one idea per slide.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Bullets are plain; no icons in the list, no emoji anywhere.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Figures and units in IBM Plex Mono – 100×100×227 mm, 12'059 CHF – so columns line up.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Caveats are part of the content – (WIP), TBD, PRELIMINARY – not hidden.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Two columns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417320"/>
            <a:ext cx="393192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00" b="1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Before, option A, the problem, the hardware.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Three to five lines per column; the slide carries one comparison.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754880" y="1417320"/>
            <a:ext cx="393192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00" b="1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RIGHT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After, option B, the proposal, the software.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Keep the two columns parallel in structure.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Image and caption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8288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Hardware photography, true to life, no filters (Identity Guide §6).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The caption says what the picture shows and why it matters here.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ph idx="105" hasCustomPrompt="1"/>
          </p:nvPr>
        </p:nvPicPr>
        <p:blipFill>
          <a:blip r:embed="rId1"/>
          <a:srcRect l="0" r="0" t="0" b="0"/>
          <a:stretch/>
        </p:blipFill>
        <p:spPr>
          <a:xfrm>
            <a:off x="4709160" y="914400"/>
            <a:ext cx="3840480" cy="3063240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6" type="body" hasCustomPrompt="1"/>
          </p:nvPr>
        </p:nvSpPr>
        <p:spPr>
          <a:xfrm>
            <a:off x="4572000" y="4187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01 · EPS MAIN BOARD, BENCH BUILD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CHANNEL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Key figures</a:t>
            </a:r>
            <a:endParaRPr lang="en-US" sz="3200" dirty="0"/>
          </a:p>
        </p:txBody>
      </p:sp>
      <p:sp>
        <p:nvSpPr>
          <p:cNvPr id="4" name="Hero card"/>
          <p:cNvSpPr/>
          <p:nvPr/>
        </p:nvSpPr>
        <p:spPr>
          <a:xfrm>
            <a:off x="457200" y="14173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004C8B"/>
          </a:solidFill>
          <a:ln w="12700">
            <a:solidFill>
              <a:srgbClr val="004C8B"/>
            </a:solidFill>
            <a:prstDash val="solid"/>
          </a:ln>
        </p:spPr>
      </p:sp>
      <p:sp>
        <p:nvSpPr>
          <p:cNvPr id="5" name="Hero card title"/>
          <p:cNvSpPr txBox="1"/>
          <p:nvPr/>
        </p:nvSpPr>
        <p:spPr>
          <a:xfrm>
            <a:off x="7315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NEXT MILESTONE</a:t>
            </a:r>
            <a:endParaRPr lang="en-US" sz="1600" dirty="0"/>
          </a:p>
        </p:txBody>
      </p:sp>
      <p:sp>
        <p:nvSpPr>
          <p:cNvPr id="6" name="Hero card rule"/>
          <p:cNvSpPr/>
          <p:nvPr/>
        </p:nvSpPr>
        <p:spPr>
          <a:xfrm>
            <a:off x="731520" y="2075688"/>
            <a:ext cx="365760" cy="27432"/>
          </a:xfrm>
          <a:prstGeom prst="rect">
            <a:avLst/>
          </a:prstGeom>
          <a:solidFill>
            <a:srgbClr val="E94538"/>
          </a:solidFill>
          <a:ln w="12700">
            <a:solidFill>
              <a:srgbClr val="E94538"/>
            </a:solidFill>
            <a:prstDash val="solid"/>
          </a:ln>
        </p:spPr>
      </p:sp>
      <p:sp>
        <p:nvSpPr>
          <p:cNvPr id="7" name="Hero card figure"/>
          <p:cNvSpPr txBox="1"/>
          <p:nvPr/>
        </p:nvSpPr>
        <p:spPr>
          <a:xfrm>
            <a:off x="73152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2027-Q1</a:t>
            </a:r>
            <a:endParaRPr lang="en-US" sz="4400" dirty="0"/>
          </a:p>
        </p:txBody>
      </p:sp>
      <p:sp>
        <p:nvSpPr>
          <p:cNvPr id="8" name="Hero card label"/>
          <p:cNvSpPr txBox="1"/>
          <p:nvPr/>
        </p:nvSpPr>
        <p:spPr>
          <a:xfrm>
            <a:off x="73152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Dev Kit v1 ships</a:t>
            </a:r>
            <a:endParaRPr lang="en-US" sz="1400" dirty="0"/>
          </a:p>
        </p:txBody>
      </p:sp>
      <p:sp>
        <p:nvSpPr>
          <p:cNvPr id="9" name="Stat 1"/>
          <p:cNvSpPr/>
          <p:nvPr/>
        </p:nvSpPr>
        <p:spPr>
          <a:xfrm>
            <a:off x="3703320" y="1417320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1F1F1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0" name="Stat 1 source"/>
          <p:cNvSpPr txBox="1"/>
          <p:nvPr/>
        </p:nvSpPr>
        <p:spPr>
          <a:xfrm>
            <a:off x="3931920" y="1554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 · 2026-10</a:t>
            </a:r>
            <a:endParaRPr lang="en-US" sz="900" dirty="0"/>
          </a:p>
        </p:txBody>
      </p:sp>
      <p:sp>
        <p:nvSpPr>
          <p:cNvPr id="11" name="Stat 1 value"/>
          <p:cNvSpPr txBox="1"/>
          <p:nvPr/>
        </p:nvSpPr>
        <p:spPr>
          <a:xfrm>
            <a:off x="393192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6'836</a:t>
            </a:r>
            <a:endParaRPr lang="en-US" sz="3000" dirty="0"/>
          </a:p>
        </p:txBody>
      </p:sp>
      <p:sp>
        <p:nvSpPr>
          <p:cNvPr id="12" name="Stat 1 label"/>
          <p:cNvSpPr txBox="1"/>
          <p:nvPr/>
        </p:nvSpPr>
        <p:spPr>
          <a:xfrm>
            <a:off x="3931920" y="22037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Subscribers</a:t>
            </a:r>
            <a:endParaRPr lang="en-US" sz="1400" dirty="0"/>
          </a:p>
        </p:txBody>
      </p:sp>
      <p:sp>
        <p:nvSpPr>
          <p:cNvPr id="13" name="Stat 2"/>
          <p:cNvSpPr/>
          <p:nvPr/>
        </p:nvSpPr>
        <p:spPr>
          <a:xfrm>
            <a:off x="6400800" y="1417320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1F1F1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4" name="Stat 2 source"/>
          <p:cNvSpPr txBox="1"/>
          <p:nvPr/>
        </p:nvSpPr>
        <p:spPr>
          <a:xfrm>
            <a:off x="6629400" y="1554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AUDIENCE</a:t>
            </a:r>
            <a:endParaRPr lang="en-US" sz="900" dirty="0"/>
          </a:p>
        </p:txBody>
      </p:sp>
      <p:sp>
        <p:nvSpPr>
          <p:cNvPr id="15" name="Stat 2 value"/>
          <p:cNvSpPr txBox="1"/>
          <p:nvPr/>
        </p:nvSpPr>
        <p:spPr>
          <a:xfrm>
            <a:off x="662940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83 %</a:t>
            </a:r>
            <a:endParaRPr lang="en-US" sz="3000" dirty="0"/>
          </a:p>
        </p:txBody>
      </p:sp>
      <p:sp>
        <p:nvSpPr>
          <p:cNvPr id="16" name="Stat 2 label"/>
          <p:cNvSpPr txBox="1"/>
          <p:nvPr/>
        </p:nvSpPr>
        <p:spPr>
          <a:xfrm>
            <a:off x="6629400" y="22037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Ages 25–44</a:t>
            </a:r>
            <a:endParaRPr lang="en-US" sz="1400" dirty="0"/>
          </a:p>
        </p:txBody>
      </p:sp>
      <p:sp>
        <p:nvSpPr>
          <p:cNvPr id="17" name="Stat 3"/>
          <p:cNvSpPr/>
          <p:nvPr/>
        </p:nvSpPr>
        <p:spPr>
          <a:xfrm>
            <a:off x="3703320" y="2633472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1F1F1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8" name="Stat 3 source"/>
          <p:cNvSpPr txBox="1"/>
          <p:nvPr/>
        </p:nvSpPr>
        <p:spPr>
          <a:xfrm>
            <a:off x="3931920" y="2770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 HARDWARE</a:t>
            </a:r>
            <a:endParaRPr lang="en-US" sz="900" dirty="0"/>
          </a:p>
        </p:txBody>
      </p:sp>
      <p:sp>
        <p:nvSpPr>
          <p:cNvPr id="19" name="Stat 3 value"/>
          <p:cNvSpPr txBox="1"/>
          <p:nvPr/>
        </p:nvSpPr>
        <p:spPr>
          <a:xfrm>
            <a:off x="3931920" y="29809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Stat 3 label"/>
          <p:cNvSpPr txBox="1"/>
          <p:nvPr/>
        </p:nvSpPr>
        <p:spPr>
          <a:xfrm>
            <a:off x="3931920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Boards released</a:t>
            </a:r>
            <a:endParaRPr lang="en-US" sz="1400" dirty="0"/>
          </a:p>
        </p:txBody>
      </p:sp>
      <p:sp>
        <p:nvSpPr>
          <p:cNvPr id="21" name="Stat 4"/>
          <p:cNvSpPr/>
          <p:nvPr/>
        </p:nvSpPr>
        <p:spPr>
          <a:xfrm>
            <a:off x="6400800" y="2633472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1F1F1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Stat 4 source"/>
          <p:cNvSpPr txBox="1"/>
          <p:nvPr/>
        </p:nvSpPr>
        <p:spPr>
          <a:xfrm>
            <a:off x="6629400" y="2770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 KIT V1</a:t>
            </a:r>
            <a:endParaRPr lang="en-US" sz="900" dirty="0"/>
          </a:p>
        </p:txBody>
      </p:sp>
      <p:sp>
        <p:nvSpPr>
          <p:cNvPr id="23" name="Stat 4 value"/>
          <p:cNvSpPr txBox="1"/>
          <p:nvPr/>
        </p:nvSpPr>
        <p:spPr>
          <a:xfrm>
            <a:off x="6629400" y="29809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2U</a:t>
            </a:r>
            <a:endParaRPr lang="en-US" sz="3000" dirty="0"/>
          </a:p>
        </p:txBody>
      </p:sp>
      <p:sp>
        <p:nvSpPr>
          <p:cNvPr id="24" name="Stat 4 label"/>
          <p:cNvSpPr txBox="1"/>
          <p:nvPr/>
        </p:nvSpPr>
        <p:spPr>
          <a:xfrm>
            <a:off x="6629400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Form factor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TIMELINE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Timeline</a:t>
            </a:r>
            <a:endParaRPr lang="en-US" sz="3200" dirty="0"/>
          </a:p>
        </p:txBody>
      </p:sp>
      <p:sp>
        <p:nvSpPr>
          <p:cNvPr id="4" name="Timeline line"/>
          <p:cNvSpPr/>
          <p:nvPr/>
        </p:nvSpPr>
        <p:spPr>
          <a:xfrm>
            <a:off x="640080" y="2423160"/>
            <a:ext cx="78638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Step 1 mark"/>
          <p:cNvSpPr/>
          <p:nvPr/>
        </p:nvSpPr>
        <p:spPr>
          <a:xfrm>
            <a:off x="1554480" y="23317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6" name="Step 1 year"/>
          <p:cNvSpPr txBox="1"/>
          <p:nvPr/>
        </p:nvSpPr>
        <p:spPr>
          <a:xfrm>
            <a:off x="5486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2020</a:t>
            </a:r>
            <a:endParaRPr lang="en-US" sz="1000" dirty="0"/>
          </a:p>
        </p:txBody>
      </p:sp>
      <p:sp>
        <p:nvSpPr>
          <p:cNvPr id="7" name="Step 1 text"/>
          <p:cNvSpPr txBox="1"/>
          <p:nvPr/>
        </p:nvSpPr>
        <p:spPr>
          <a:xfrm>
            <a:off x="54864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Project start</a:t>
            </a:r>
            <a:endParaRPr lang="en-US" sz="1400" dirty="0"/>
          </a:p>
        </p:txBody>
      </p:sp>
      <p:sp>
        <p:nvSpPr>
          <p:cNvPr id="8" name="Step 2 mark"/>
          <p:cNvSpPr/>
          <p:nvPr/>
        </p:nvSpPr>
        <p:spPr>
          <a:xfrm>
            <a:off x="3505200" y="23317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9" name="Step 2 year"/>
          <p:cNvSpPr txBox="1"/>
          <p:nvPr/>
        </p:nvSpPr>
        <p:spPr>
          <a:xfrm>
            <a:off x="24993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</a:t>
            </a:r>
            <a:endParaRPr lang="en-US" sz="1000" dirty="0"/>
          </a:p>
        </p:txBody>
      </p:sp>
      <p:sp>
        <p:nvSpPr>
          <p:cNvPr id="10" name="Step 2 text"/>
          <p:cNvSpPr txBox="1"/>
          <p:nvPr/>
        </p:nvSpPr>
        <p:spPr>
          <a:xfrm>
            <a:off x="249936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YouTube devlog</a:t>
            </a:r>
            <a:endParaRPr lang="en-US" sz="1400" dirty="0"/>
          </a:p>
        </p:txBody>
      </p:sp>
      <p:sp>
        <p:nvSpPr>
          <p:cNvPr id="11" name="Step 3 mark"/>
          <p:cNvSpPr/>
          <p:nvPr/>
        </p:nvSpPr>
        <p:spPr>
          <a:xfrm>
            <a:off x="5455920" y="23317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12" name="Step 3 year"/>
          <p:cNvSpPr txBox="1"/>
          <p:nvPr/>
        </p:nvSpPr>
        <p:spPr>
          <a:xfrm>
            <a:off x="44500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3" name="Step 3 text"/>
          <p:cNvSpPr txBox="1"/>
          <p:nvPr/>
        </p:nvSpPr>
        <p:spPr>
          <a:xfrm>
            <a:off x="445008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First suborbital test</a:t>
            </a:r>
            <a:endParaRPr lang="en-US" sz="1400" dirty="0"/>
          </a:p>
        </p:txBody>
      </p:sp>
      <p:sp>
        <p:nvSpPr>
          <p:cNvPr id="14" name="Step 4 mark"/>
          <p:cNvSpPr/>
          <p:nvPr/>
        </p:nvSpPr>
        <p:spPr>
          <a:xfrm>
            <a:off x="7406640" y="2331720"/>
            <a:ext cx="182880" cy="182880"/>
          </a:xfrm>
          <a:prstGeom prst="ellipse">
            <a:avLst/>
          </a:prstGeom>
          <a:solidFill>
            <a:srgbClr val="F7D400"/>
          </a:solidFill>
          <a:ln w="15875">
            <a:solidFill>
              <a:srgbClr val="1F1F1F"/>
            </a:solidFill>
            <a:prstDash val="solid"/>
          </a:ln>
        </p:spPr>
      </p:sp>
      <p:sp>
        <p:nvSpPr>
          <p:cNvPr id="15" name="Step 4 year"/>
          <p:cNvSpPr txBox="1"/>
          <p:nvPr/>
        </p:nvSpPr>
        <p:spPr>
          <a:xfrm>
            <a:off x="640080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16" name="Step 4 text"/>
          <p:cNvSpPr txBox="1"/>
          <p:nvPr/>
        </p:nvSpPr>
        <p:spPr>
          <a:xfrm>
            <a:off x="640080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Development kits on sale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Table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0861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7" kern="0" dirty="0">
                          <a:solidFill>
                            <a:srgbClr val="6D6D6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PARAMETER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7" kern="0" dirty="0">
                          <a:solidFill>
                            <a:srgbClr val="6D6D6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VALUE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7" kern="0" dirty="0">
                          <a:solidFill>
                            <a:srgbClr val="6D6D6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Form factor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2U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100×100×227 mm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Bus voltage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3.3 V / 5 V / 12 V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bacBus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Battery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2S2P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Li-ion, development only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Mass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TBD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(WIP) – measured on the flight build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15087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1F1F1F"/>
                </a:solidFill>
              </a:rPr>
              <a:t>Engineering should be understandable.</a:t>
            </a:r>
            <a:endParaRPr lang="en-US" sz="3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IDENTITY GUIDE §2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1828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Let's talk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2788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hello@buildacubesat.space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buildacubesat.space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+41 31 561 93 45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nihil.space GmbH · Egghölzlistrasse 20 · 3006 Bern</a:t>
            </a:r>
            <a:endParaRPr lang="en-US" sz="13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 KIT · 2026-10-27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nt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D6D"/>
                </a:solidFill>
              </a:rPr>
              <a:t>Blank layout – for full-bleed images, diagrams and charts composed by hand.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 a CubeSat">
  <a:themeElements>
    <a:clrScheme name="Build a CubeSat">
      <a:dk1>
        <a:srgbClr val="1F1F1F"/>
      </a:dk1>
      <a:lt1>
        <a:srgbClr val="FFFFFF"/>
      </a:lt1>
      <a:dk2>
        <a:srgbClr val="3F3F3F"/>
      </a:dk2>
      <a:lt2>
        <a:srgbClr val="F9F9F9"/>
      </a:lt2>
      <a:accent1>
        <a:srgbClr val="F7D400"/>
      </a:accent1>
      <a:accent2>
        <a:srgbClr val="004C8B"/>
      </a:accent2>
      <a:accent3>
        <a:srgbClr val="0E9594"/>
      </a:accent3>
      <a:accent4>
        <a:srgbClr val="7A5AF8"/>
      </a:accent4>
      <a:accent5>
        <a:srgbClr val="C64677"/>
      </a:accent5>
      <a:accent6>
        <a:srgbClr val="3FB950"/>
      </a:accent6>
      <a:hlink>
        <a:srgbClr val="0B5CAD"/>
      </a:hlink>
      <a:folHlink>
        <a:srgbClr val="0B5CAD"/>
      </a:folHlink>
    </a:clrScheme>
    <a:fontScheme name="Build a CubeSat">
      <a:majorFont>
        <a:latin typeface="Nuni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Build a CubeSat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CubeSat slides template v1r1</dc:title>
  <dc:subject>Build a CubeSat slides template v1r1. The marks are BAC Marks of nihil.space GmbH (BAC Trademark Policy).</dc:subject>
  <dc:creator>nihil.space GmbH</dc:creator>
  <cp:lastModifiedBy>nihil.space GmbH</cp:lastModifiedBy>
  <cp:revision>1</cp:revision>
  <dcterms:created xsi:type="dcterms:W3CDTF">2026-10-27T21:02:07Z</dcterms:created>
  <dcterms:modified xsi:type="dcterms:W3CDTF">2026-10-27T21:02:07Z</dcterms:modified>
</cp:coreProperties>
</file>