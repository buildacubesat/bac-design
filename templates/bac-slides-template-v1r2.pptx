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" id="{1ed2d869-93ef-7a0f-dc64-15b5d2783c0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on paper: internal and technical decks. The right half is a photo slot – real hardware, true to life, no filters (Identity Guide §6). Delete the slot for a text-only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on the nebula: outward-facing decks. The eyebrow takes Plasma Rose, the kicker stays BAC Yellow. The viewport on the right is the product-render slot; a photo or a CAD-derived outline both belong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Composed on the title-only layout. One hero card per deck lifts the single most important item (info blue, white text, the short red rule is decorative – Identity Guide §6). Stats are paper wells with a nebula top rule: mono source label, mono figure, sans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on the nebula (TITLE_ONLY_MISSION). Done steps in Orbital Teal with a solid line, the current step BAC Yellow (the slide's one yellow besides the kicker), the steps ahead hollow on a dashed line. Dates in mono. The callout is a viewport-ink card with a teal edge and a Plasma Rose label. Up to five steps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Tables: a strong header rule, hairline row rules, no outer border and no fills (Identity Guide §5.4). Header labels in mono uppercase, values in IBM Plex Mono.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Quote: one sentence, the speaker's portrait (a square photo, cropped round by the frame) with name and role, and a photo of what they talk about on the right. Delete the photo slot for a quote that stands alone; the quote box then takes the full width.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TITLE_MISSION-image-3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SECTION_MISSION-image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image" Target="../media/TITLE_ONLY_MISSION-image-2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3-1.png"/><Relationship Id="rId2" Type="http://schemas.openxmlformats.org/officeDocument/2006/relationships/image" Target="../media/CONTACT-image-2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5120640" y="0"/>
            <a:ext cx="4023360" cy="51435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8A8A8A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8A8A8A"/>
                </a:solidFill>
              </a:rPr>
              <a:t>Hardware photo</a:t>
            </a: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740015" cy="7315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1714500"/>
            <a:ext cx="182880" cy="45720"/>
          </a:xfrm>
          <a:prstGeom prst="rect">
            <a:avLst>
              <a:gd name="adj" fmla="val 50000"/>
            </a:avLst>
          </a:prstGeom>
          <a:solidFill>
            <a:srgbClr val="F7D400"/>
          </a:solidFill>
          <a:ln w="12700">
            <a:solidFill>
              <a:srgbClr val="F7D400"/>
            </a:solidFill>
            <a:prstDash val="solid"/>
          </a:ln>
        </p:spPr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31520" y="1600200"/>
            <a:ext cx="4206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EYEBROW</a:t>
            </a:r>
            <a:endParaRPr lang="en-US" sz="10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457200" y="1920240"/>
            <a:ext cx="4389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4000" spc="-80" kern="0" dirty="0">
                <a:solidFill>
                  <a:srgbClr val="1F1F1F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4000" spc="-80" kern="0" dirty="0">
                <a:solidFill>
                  <a:srgbClr val="1F1F1F"/>
                </a:solidFill>
              </a:rPr>
              <a:t>Title</a:t>
            </a:r>
            <a:endParaRPr lang="en-US" sz="40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457200" y="3931920"/>
            <a:ext cx="42062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0000"/>
              </a:lnSpc>
              <a:spcAft>
                <a:spcPts val="800"/>
              </a:spcAft>
              <a:buNone/>
              <a:defRPr lang="en-US" sz="1800" dirty="0">
                <a:solidFill>
                  <a:srgbClr val="3F3F3F"/>
                </a:solidFill>
              </a:defRPr>
            </a:lvl1pPr>
          </a:lstStyle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3F3F3F"/>
                </a:solidFill>
              </a:rPr>
              <a:t>Body</a:t>
            </a:r>
            <a:endParaRPr lang="en-US" sz="1800" dirty="0"/>
          </a:p>
        </p:txBody>
      </p:sp>
      <p:sp>
        <p:nvSpPr>
          <p:cNvPr id="8" name="Text 1"/>
          <p:cNvSpPr/>
          <p:nvPr>
            <p:ph idx="106" type="body" hasCustomPrompt="1"/>
          </p:nvPr>
        </p:nvSpPr>
        <p:spPr>
          <a:xfrm>
            <a:off x="457200" y="4759452"/>
            <a:ext cx="420624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" spc="24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800" spc="24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AUTHOR · 2026-10-27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ISSION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868680"/>
            <a:ext cx="3429000" cy="257175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hasCustomPrompt="1"/>
          </p:nvPr>
        </p:nvSpPr>
        <p:spPr>
          <a:xfrm>
            <a:off x="5440680" y="1051560"/>
            <a:ext cx="3063240" cy="206883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8F879E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8F879E"/>
                </a:solidFill>
              </a:rPr>
              <a:t>Product image</a:t>
            </a: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0" y="313867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4" kern="0" dirty="0">
                <a:solidFill>
                  <a:srgbClr val="1A9A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 IMAGE · 4:3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740015" cy="73152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57200" y="1714500"/>
            <a:ext cx="182880" cy="45720"/>
          </a:xfrm>
          <a:prstGeom prst="rect">
            <a:avLst>
              <a:gd name="adj" fmla="val 50000"/>
            </a:avLst>
          </a:prstGeom>
          <a:solidFill>
            <a:srgbClr val="F7D400"/>
          </a:solidFill>
          <a:ln w="12700">
            <a:solidFill>
              <a:srgbClr val="F7D400"/>
            </a:solidFill>
            <a:prstDash val="solid"/>
          </a:ln>
        </p:spPr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31520" y="1600200"/>
            <a:ext cx="4206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" kern="0" dirty="0">
                <a:solidFill>
                  <a:srgbClr val="DE5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" kern="0" dirty="0">
                <a:solidFill>
                  <a:srgbClr val="DE5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EYEBROW</a:t>
            </a:r>
            <a:endParaRPr lang="en-US" sz="1000" dirty="0"/>
          </a:p>
        </p:txBody>
      </p:sp>
      <p:sp>
        <p:nvSpPr>
          <p:cNvPr id="8" name="Text 2"/>
          <p:cNvSpPr/>
          <p:nvPr>
            <p:ph idx="106" type="title" hasCustomPrompt="1"/>
          </p:nvPr>
        </p:nvSpPr>
        <p:spPr>
          <a:xfrm>
            <a:off x="457200" y="1920240"/>
            <a:ext cx="44805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4000" spc="-80" kern="0" dirty="0">
                <a:solidFill>
                  <a:srgbClr val="F4F1EA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4000" spc="-80" kern="0" dirty="0">
                <a:solidFill>
                  <a:srgbClr val="F4F1EA"/>
                </a:solidFill>
              </a:rPr>
              <a:t>Title</a:t>
            </a:r>
            <a:endParaRPr lang="en-US" sz="4000" dirty="0"/>
          </a:p>
        </p:txBody>
      </p:sp>
      <p:sp>
        <p:nvSpPr>
          <p:cNvPr id="9" name="Text 2"/>
          <p:cNvSpPr/>
          <p:nvPr>
            <p:ph idx="107" type="body" hasCustomPrompt="1"/>
          </p:nvPr>
        </p:nvSpPr>
        <p:spPr>
          <a:xfrm>
            <a:off x="457200" y="3931920"/>
            <a:ext cx="4389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0000"/>
              </a:lnSpc>
              <a:spcAft>
                <a:spcPts val="800"/>
              </a:spcAft>
              <a:buNone/>
              <a:defRPr lang="en-US" sz="1800" dirty="0">
                <a:solidFill>
                  <a:srgbClr val="8F879E"/>
                </a:solidFill>
              </a:defRPr>
            </a:lvl1pPr>
          </a:lstStyle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8F879E"/>
                </a:solidFill>
              </a:rPr>
              <a:t>Body</a:t>
            </a:r>
            <a:endParaRPr lang="en-US" sz="1800" dirty="0"/>
          </a:p>
        </p:txBody>
      </p:sp>
      <p:sp>
        <p:nvSpPr>
          <p:cNvPr id="10" name="Text 2"/>
          <p:cNvSpPr/>
          <p:nvPr>
            <p:ph idx="108" type="body" hasCustomPrompt="1"/>
          </p:nvPr>
        </p:nvSpPr>
        <p:spPr>
          <a:xfrm>
            <a:off x="457200" y="4759452"/>
            <a:ext cx="420624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" spc="24" kern="0" dirty="0">
                <a:solidFill>
                  <a:srgbClr val="8F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800" spc="24" kern="0" dirty="0">
                <a:solidFill>
                  <a:srgbClr val="8F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AUTHOR · 2026-10-27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28700"/>
            <a:ext cx="182880" cy="45720"/>
          </a:xfrm>
          <a:prstGeom prst="rect">
            <a:avLst>
              <a:gd name="adj" fmla="val 50000"/>
            </a:avLst>
          </a:prstGeom>
          <a:solidFill>
            <a:srgbClr val="F7D400"/>
          </a:solidFill>
          <a:ln w="12700">
            <a:solidFill>
              <a:srgbClr val="F7D400"/>
            </a:solidFill>
            <a:prstDash val="solid"/>
          </a:ln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EYEBROW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1234440"/>
            <a:ext cx="5486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00000"/>
              </a:lnSpc>
              <a:buNone/>
              <a:defRPr lang="en-US" sz="8800" dirty="0">
                <a:solidFill>
                  <a:srgbClr val="DDD7C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lnSpc>
                <a:spcPct val="100000"/>
              </a:lnSpc>
              <a:buNone/>
            </a:pPr>
            <a:r>
              <a:rPr lang="en-US" sz="8800" dirty="0">
                <a:solidFill>
                  <a:srgbClr val="DDD7C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88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457200" y="274320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4400" spc="-88" kern="0" dirty="0">
                <a:solidFill>
                  <a:srgbClr val="1F1F1F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4400" spc="-88" kern="0" dirty="0">
                <a:solidFill>
                  <a:srgbClr val="1F1F1F"/>
                </a:solidFill>
              </a:rPr>
              <a:t>Title</a:t>
            </a:r>
            <a:endParaRPr lang="en-US" sz="4400" dirty="0"/>
          </a:p>
        </p:txBody>
      </p:sp>
      <p:sp>
        <p:nvSpPr>
          <p:cNvPr id="6" name="Text 1"/>
          <p:cNvSpPr/>
          <p:nvPr/>
        </p:nvSpPr>
        <p:spPr>
          <a:xfrm>
            <a:off x="45720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4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 CUBESAT · DECK NAME · 2026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2" y="4732020"/>
            <a:ext cx="168771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MIS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28700"/>
            <a:ext cx="182880" cy="45720"/>
          </a:xfrm>
          <a:prstGeom prst="rect">
            <a:avLst>
              <a:gd name="adj" fmla="val 50000"/>
            </a:avLst>
          </a:prstGeom>
          <a:solidFill>
            <a:srgbClr val="F7D400"/>
          </a:solidFill>
          <a:ln w="12700">
            <a:solidFill>
              <a:srgbClr val="F7D400"/>
            </a:solidFill>
            <a:prstDash val="solid"/>
          </a:ln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" kern="0" dirty="0">
                <a:solidFill>
                  <a:srgbClr val="DE5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" kern="0" dirty="0">
                <a:solidFill>
                  <a:srgbClr val="DE5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EYEBROW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1234440"/>
            <a:ext cx="5486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00000"/>
              </a:lnSpc>
              <a:buNone/>
              <a:defRPr lang="en-US" sz="8800" dirty="0">
                <a:solidFill>
                  <a:srgbClr val="3B33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lnSpc>
                <a:spcPct val="100000"/>
              </a:lnSpc>
              <a:buNone/>
            </a:pPr>
            <a:r>
              <a:rPr lang="en-US" sz="8800" dirty="0">
                <a:solidFill>
                  <a:srgbClr val="3B33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88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457200" y="274320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4400" spc="-88" kern="0" dirty="0">
                <a:solidFill>
                  <a:srgbClr val="F4F1EA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4400" spc="-88" kern="0" dirty="0">
                <a:solidFill>
                  <a:srgbClr val="F4F1EA"/>
                </a:solidFill>
              </a:rPr>
              <a:t>Title</a:t>
            </a:r>
            <a:endParaRPr lang="en-US" sz="4400" dirty="0"/>
          </a:p>
        </p:txBody>
      </p:sp>
      <p:sp>
        <p:nvSpPr>
          <p:cNvPr id="6" name="Text 1"/>
          <p:cNvSpPr/>
          <p:nvPr/>
        </p:nvSpPr>
        <p:spPr>
          <a:xfrm>
            <a:off x="45720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4" kern="0" dirty="0">
                <a:solidFill>
                  <a:srgbClr val="8F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 CUBESAT · DECK NAME · 2026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2" y="4732020"/>
            <a:ext cx="168771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8F879E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BODY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25780"/>
            <a:ext cx="182880" cy="45720"/>
          </a:xfrm>
          <a:prstGeom prst="rect">
            <a:avLst>
              <a:gd name="adj" fmla="val 50000"/>
            </a:avLst>
          </a:prstGeom>
          <a:solidFill>
            <a:srgbClr val="F7D400"/>
          </a:solidFill>
          <a:ln w="12700">
            <a:solidFill>
              <a:srgbClr val="F7D400"/>
            </a:solidFill>
            <a:prstDash val="solid"/>
          </a:ln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EYEBROW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3200" spc="-64" kern="0" dirty="0">
                <a:solidFill>
                  <a:srgbClr val="1F1F1F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3200" spc="-64" kern="0" dirty="0">
                <a:solidFill>
                  <a:srgbClr val="1F1F1F"/>
                </a:solidFill>
              </a:rPr>
              <a:t>Title</a:t>
            </a:r>
            <a:endParaRPr lang="en-US" sz="3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57200" y="1417320"/>
            <a:ext cx="8229600" cy="30861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0000"/>
              </a:lnSpc>
              <a:spcAft>
                <a:spcPts val="800"/>
              </a:spcAft>
              <a:buNone/>
              <a:defRPr lang="en-US" sz="1600" dirty="0">
                <a:solidFill>
                  <a:srgbClr val="3F3F3F"/>
                </a:solidFill>
              </a:defRPr>
            </a:lvl1pPr>
          </a:lstStyle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F3F3F"/>
                </a:solidFill>
              </a:rPr>
              <a:t>Body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5720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4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 CUBESAT · DECK NAME · 2026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2" y="4732020"/>
            <a:ext cx="168771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LUMNS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25780"/>
            <a:ext cx="182880" cy="45720"/>
          </a:xfrm>
          <a:prstGeom prst="rect">
            <a:avLst>
              <a:gd name="adj" fmla="val 50000"/>
            </a:avLst>
          </a:prstGeom>
          <a:solidFill>
            <a:srgbClr val="F7D400"/>
          </a:solidFill>
          <a:ln w="12700">
            <a:solidFill>
              <a:srgbClr val="F7D400"/>
            </a:solidFill>
            <a:prstDash val="solid"/>
          </a:ln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EYEBROW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3200" spc="-64" kern="0" dirty="0">
                <a:solidFill>
                  <a:srgbClr val="1F1F1F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3200" spc="-64" kern="0" dirty="0">
                <a:solidFill>
                  <a:srgbClr val="1F1F1F"/>
                </a:solidFill>
              </a:rPr>
              <a:t>Title</a:t>
            </a:r>
            <a:endParaRPr lang="en-US" sz="3200" dirty="0"/>
          </a:p>
        </p:txBody>
      </p:sp>
      <p:sp>
        <p:nvSpPr>
          <p:cNvPr id="5" name="Shape 1"/>
          <p:cNvSpPr/>
          <p:nvPr/>
        </p:nvSpPr>
        <p:spPr>
          <a:xfrm>
            <a:off x="457200" y="1417320"/>
            <a:ext cx="4023360" cy="2994660"/>
          </a:xfrm>
          <a:prstGeom prst="rect">
            <a:avLst>
              <a:gd name="adj" fmla="val 3053"/>
            </a:avLst>
          </a:prstGeom>
          <a:solidFill>
            <a:srgbClr val="F9F7F4"/>
          </a:solidFill>
          <a:ln w="9525">
            <a:solidFill>
              <a:srgbClr val="D7D3D2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66928" y="1417320"/>
            <a:ext cx="3803904" cy="45720"/>
          </a:xfrm>
          <a:prstGeom prst="rect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663440" y="1417320"/>
            <a:ext cx="4023360" cy="2994660"/>
          </a:xfrm>
          <a:prstGeom prst="rect">
            <a:avLst>
              <a:gd name="adj" fmla="val 3053"/>
            </a:avLst>
          </a:prstGeom>
          <a:solidFill>
            <a:srgbClr val="F9F7F4"/>
          </a:solidFill>
          <a:ln w="9525">
            <a:solidFill>
              <a:srgbClr val="D7D3D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773168" y="1417320"/>
            <a:ext cx="3803904" cy="4572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9" name="Text 5"/>
          <p:cNvSpPr/>
          <p:nvPr>
            <p:ph idx="107" type="body" hasCustomPrompt="1"/>
          </p:nvPr>
        </p:nvSpPr>
        <p:spPr>
          <a:xfrm>
            <a:off x="731520" y="1691640"/>
            <a:ext cx="3474720" cy="25374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0000"/>
              </a:lnSpc>
              <a:spcAft>
                <a:spcPts val="800"/>
              </a:spcAft>
              <a:buNone/>
              <a:defRPr lang="en-US" sz="1400" dirty="0">
                <a:solidFill>
                  <a:srgbClr val="3F3F3F"/>
                </a:solidFill>
              </a:defRPr>
            </a:lvl1pPr>
          </a:lstStyle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F3F3F"/>
                </a:solidFill>
              </a:rPr>
              <a:t>Body</a:t>
            </a:r>
            <a:endParaRPr lang="en-US" sz="1400" dirty="0"/>
          </a:p>
        </p:txBody>
      </p:sp>
      <p:sp>
        <p:nvSpPr>
          <p:cNvPr id="10" name="Text 5"/>
          <p:cNvSpPr/>
          <p:nvPr>
            <p:ph idx="108" type="body" hasCustomPrompt="1"/>
          </p:nvPr>
        </p:nvSpPr>
        <p:spPr>
          <a:xfrm>
            <a:off x="4937760" y="1691640"/>
            <a:ext cx="3474720" cy="25374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0000"/>
              </a:lnSpc>
              <a:spcAft>
                <a:spcPts val="800"/>
              </a:spcAft>
              <a:buNone/>
              <a:defRPr lang="en-US" sz="1400" dirty="0">
                <a:solidFill>
                  <a:srgbClr val="3F3F3F"/>
                </a:solidFill>
              </a:defRPr>
            </a:lvl1pPr>
          </a:lstStyle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F3F3F"/>
                </a:solidFill>
              </a:rPr>
              <a:t>Body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45720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4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 CUBESAT · DECK NAME · 2026</a:t>
            </a:r>
            <a:endParaRPr lang="en-US" sz="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2" y="4732020"/>
            <a:ext cx="168771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_CAPTION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25780"/>
            <a:ext cx="182880" cy="45720"/>
          </a:xfrm>
          <a:prstGeom prst="rect">
            <a:avLst>
              <a:gd name="adj" fmla="val 50000"/>
            </a:avLst>
          </a:prstGeom>
          <a:solidFill>
            <a:srgbClr val="F7D400"/>
          </a:solidFill>
          <a:ln w="12700">
            <a:solidFill>
              <a:srgbClr val="F7D400"/>
            </a:solidFill>
            <a:prstDash val="solid"/>
          </a:ln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3152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EYEBROW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713232"/>
            <a:ext cx="37490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3200" spc="-64" kern="0" dirty="0">
                <a:solidFill>
                  <a:srgbClr val="1F1F1F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3200" spc="-64" kern="0" dirty="0">
                <a:solidFill>
                  <a:srgbClr val="1F1F1F"/>
                </a:solidFill>
              </a:rPr>
              <a:t>Title</a:t>
            </a:r>
            <a:endParaRPr lang="en-US" sz="3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57200" y="1828800"/>
            <a:ext cx="374904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0000"/>
              </a:lnSpc>
              <a:spcAft>
                <a:spcPts val="800"/>
              </a:spcAft>
              <a:buNone/>
              <a:defRPr lang="en-US" sz="1400" dirty="0">
                <a:solidFill>
                  <a:srgbClr val="3F3F3F"/>
                </a:solidFill>
              </a:defRPr>
            </a:lvl1pPr>
          </a:lstStyle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F3F3F"/>
                </a:solidFill>
              </a:rPr>
              <a:t>Body</a:t>
            </a:r>
            <a:endParaRPr lang="en-US" sz="1400" dirty="0"/>
          </a:p>
        </p:txBody>
      </p:sp>
      <p:sp>
        <p:nvSpPr>
          <p:cNvPr id="6" name="Shape 1"/>
          <p:cNvSpPr/>
          <p:nvPr/>
        </p:nvSpPr>
        <p:spPr>
          <a:xfrm>
            <a:off x="4572000" y="777240"/>
            <a:ext cx="4114800" cy="3337560"/>
          </a:xfrm>
          <a:prstGeom prst="rect">
            <a:avLst>
              <a:gd name="adj" fmla="val 2740"/>
            </a:avLst>
          </a:prstGeom>
          <a:solidFill>
            <a:srgbClr val="F9F7F4"/>
          </a:solidFill>
          <a:ln w="9525">
            <a:solidFill>
              <a:srgbClr val="D7D3D2"/>
            </a:solidFill>
            <a:prstDash val="solid"/>
          </a:ln>
        </p:spPr>
      </p:sp>
      <p:sp>
        <p:nvSpPr>
          <p:cNvPr id="7" name="Text 2"/>
          <p:cNvSpPr/>
          <p:nvPr>
            <p:ph idx="105" hasCustomPrompt="1"/>
          </p:nvPr>
        </p:nvSpPr>
        <p:spPr>
          <a:xfrm>
            <a:off x="4709160" y="914400"/>
            <a:ext cx="3840480" cy="3063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8A8A8A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8A8A8A"/>
                </a:solidFill>
              </a:rPr>
              <a:t>Picture</a:t>
            </a:r>
            <a:endParaRPr lang="en-US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4572000" y="4187952"/>
            <a:ext cx="41148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00" spc="27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900" spc="27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FIG. 01 · WHAT THE PICTURE SHOWS</a:t>
            </a:r>
            <a:endParaRPr lang="en-US" sz="900" dirty="0"/>
          </a:p>
        </p:txBody>
      </p:sp>
      <p:sp>
        <p:nvSpPr>
          <p:cNvPr id="9" name="Text 2"/>
          <p:cNvSpPr/>
          <p:nvPr/>
        </p:nvSpPr>
        <p:spPr>
          <a:xfrm>
            <a:off x="45720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4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 CUBESAT · DECK NAME · 2026</a:t>
            </a:r>
            <a:endParaRPr lang="en-US" sz="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2" y="4732020"/>
            <a:ext cx="168771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25780"/>
            <a:ext cx="182880" cy="45720"/>
          </a:xfrm>
          <a:prstGeom prst="rect">
            <a:avLst>
              <a:gd name="adj" fmla="val 50000"/>
            </a:avLst>
          </a:prstGeom>
          <a:solidFill>
            <a:srgbClr val="F7D400"/>
          </a:solidFill>
          <a:ln w="12700">
            <a:solidFill>
              <a:srgbClr val="F7D400"/>
            </a:solidFill>
            <a:prstDash val="solid"/>
          </a:ln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EYEBROW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3200" spc="-64" kern="0" dirty="0">
                <a:solidFill>
                  <a:srgbClr val="1F1F1F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3200" spc="-64" kern="0" dirty="0">
                <a:solidFill>
                  <a:srgbClr val="1F1F1F"/>
                </a:solidFill>
              </a:rPr>
              <a:t>Title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45720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4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 CUBESAT · DECK NAME · 2026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2" y="4732020"/>
            <a:ext cx="168771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MIS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25780"/>
            <a:ext cx="182880" cy="45720"/>
          </a:xfrm>
          <a:prstGeom prst="rect">
            <a:avLst>
              <a:gd name="adj" fmla="val 50000"/>
            </a:avLst>
          </a:prstGeom>
          <a:solidFill>
            <a:srgbClr val="F7D400"/>
          </a:solidFill>
          <a:ln w="12700">
            <a:solidFill>
              <a:srgbClr val="F7D400"/>
            </a:solidFill>
            <a:prstDash val="solid"/>
          </a:ln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" kern="0" dirty="0">
                <a:solidFill>
                  <a:srgbClr val="DE5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" kern="0" dirty="0">
                <a:solidFill>
                  <a:srgbClr val="DE5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EYEBROW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3200" spc="-64" kern="0" dirty="0">
                <a:solidFill>
                  <a:srgbClr val="F4F1EA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3200" spc="-64" kern="0" dirty="0">
                <a:solidFill>
                  <a:srgbClr val="F4F1EA"/>
                </a:solidFill>
              </a:rPr>
              <a:t>Title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45720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4" kern="0" dirty="0">
                <a:solidFill>
                  <a:srgbClr val="8F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 CUBESAT · DECK NAME · 2026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2" y="4732020"/>
            <a:ext cx="168771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8F879E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25780"/>
            <a:ext cx="182880" cy="45720"/>
          </a:xfrm>
          <a:prstGeom prst="rect">
            <a:avLst>
              <a:gd name="adj" fmla="val 50000"/>
            </a:avLst>
          </a:prstGeom>
          <a:solidFill>
            <a:srgbClr val="F7D400"/>
          </a:solidFill>
          <a:ln w="12700">
            <a:solidFill>
              <a:srgbClr val="F7D400"/>
            </a:solidFill>
            <a:prstDash val="solid"/>
          </a:ln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EYEBROW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3200" spc="-64" kern="0" dirty="0">
                <a:solidFill>
                  <a:srgbClr val="1F1F1F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3200" spc="-64" kern="0" dirty="0">
                <a:solidFill>
                  <a:srgbClr val="1F1F1F"/>
                </a:solidFill>
              </a:rPr>
              <a:t>Title</a:t>
            </a:r>
            <a:endParaRPr lang="en-US" sz="32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457200" y="1417320"/>
            <a:ext cx="8229600" cy="30861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3F3F3F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3F3F3F"/>
                </a:solidFill>
              </a:rPr>
              <a:t>Table</a:t>
            </a: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45720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4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 CUBESAT · DECK NAME · 2026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2" y="4732020"/>
            <a:ext cx="168771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5486400" y="0"/>
            <a:ext cx="3657600" cy="51435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8A8A8A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8A8A8A"/>
                </a:solidFill>
              </a:rPr>
              <a:t>Photo</a:t>
            </a:r>
            <a:endParaRPr lang="en-US" dirty="0"/>
          </a:p>
        </p:txBody>
      </p:sp>
      <p:sp>
        <p:nvSpPr>
          <p:cNvPr id="3" name="Text 0"/>
          <p:cNvSpPr/>
          <p:nvPr/>
        </p:nvSpPr>
        <p:spPr>
          <a:xfrm>
            <a:off x="402336" y="22860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0" dirty="0">
                <a:solidFill>
                  <a:srgbClr val="C64677"/>
                </a:solidFill>
              </a:rPr>
              <a:t>“</a:t>
            </a:r>
            <a:endParaRPr lang="en-US" sz="1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1325880"/>
            <a:ext cx="47548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10000"/>
              </a:lnSpc>
              <a:buNone/>
              <a:defRPr lang="en-US" sz="3000" spc="-60" kern="0" dirty="0">
                <a:solidFill>
                  <a:srgbClr val="1F1F1F"/>
                </a:solidFill>
              </a:defRPr>
            </a:lvl1pPr>
          </a:lstStyle>
          <a:p>
            <a:pPr indent="0" marL="0">
              <a:lnSpc>
                <a:spcPct val="110000"/>
              </a:lnSpc>
              <a:buNone/>
            </a:pPr>
            <a:r>
              <a:rPr lang="en-US" sz="3000" spc="-60" kern="0" dirty="0">
                <a:solidFill>
                  <a:srgbClr val="1F1F1F"/>
                </a:solidFill>
              </a:rPr>
              <a:t>Quote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457200" y="3520440"/>
            <a:ext cx="457200" cy="45720"/>
          </a:xfrm>
          <a:prstGeom prst="rect">
            <a:avLst/>
          </a:prstGeom>
          <a:solidFill>
            <a:srgbClr val="C64677"/>
          </a:solidFill>
          <a:ln w="12700">
            <a:solidFill>
              <a:srgbClr val="C64677"/>
            </a:solidFill>
            <a:prstDash val="solid"/>
          </a:ln>
        </p:spPr>
      </p:sp>
      <p:sp>
        <p:nvSpPr>
          <p:cNvPr id="6" name="Text 2"/>
          <p:cNvSpPr/>
          <p:nvPr>
            <p:ph idx="104" hasCustomPrompt="1"/>
          </p:nvPr>
        </p:nvSpPr>
        <p:spPr>
          <a:xfrm>
            <a:off x="457200" y="3730752"/>
            <a:ext cx="566928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8A8A8A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8A8A8A"/>
                </a:solidFill>
              </a:rPr>
              <a:t>Portrait</a:t>
            </a:r>
            <a:endParaRPr lang="en-US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1188720" y="3749040"/>
            <a:ext cx="40233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1F1F1F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Name</a:t>
            </a:r>
            <a:endParaRPr lang="en-US" sz="14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1188720" y="4041648"/>
            <a:ext cx="402336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spc="27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900" spc="27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ROLE · ORGANIZATION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957517" cy="8229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1828800"/>
            <a:ext cx="5486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4400" spc="-88" kern="0" dirty="0">
                <a:solidFill>
                  <a:srgbClr val="F4F1EA"/>
                </a:solidFill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4400" spc="-88" kern="0" dirty="0">
                <a:solidFill>
                  <a:srgbClr val="F4F1EA"/>
                </a:solidFill>
              </a:rPr>
              <a:t>Title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2788920"/>
            <a:ext cx="5486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5000"/>
              </a:lnSpc>
              <a:spcAft>
                <a:spcPts val="400"/>
              </a:spcAft>
              <a:buNone/>
              <a:defRPr lang="en-US" sz="1300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Body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4759452"/>
            <a:ext cx="54864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" spc="24" kern="0" dirty="0">
                <a:solidFill>
                  <a:srgbClr val="8F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800" spc="24" kern="0" dirty="0">
                <a:solidFill>
                  <a:srgbClr val="8F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DECK NAME · 2026-10-27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4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 CUBESAT · DECK NAME · 2026</a:t>
            </a:r>
            <a:endParaRPr lang="en-US" sz="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2" y="4732020"/>
            <a:ext cx="168771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731520" y="1600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DECK TYPE · OCTOBER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457200" y="192024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spc="-80" kern="0" dirty="0">
                <a:solidFill>
                  <a:srgbClr val="1F1F1F"/>
                </a:solidFill>
              </a:rPr>
              <a:t>Open hardware, built to be understood.</a:t>
            </a:r>
            <a:endParaRPr lang="en-US" sz="4000" dirty="0"/>
          </a:p>
        </p:txBody>
      </p:sp>
      <p:sp>
        <p:nvSpPr>
          <p:cNvPr id="4" name="Text 1"/>
          <p:cNvSpPr/>
          <p:nvPr>
            <p:ph idx="105" type="body" hasCustomPrompt="1"/>
          </p:nvPr>
        </p:nvSpPr>
        <p:spPr>
          <a:xfrm>
            <a:off x="457200" y="3931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3F3F3F"/>
                </a:solidFill>
              </a:rPr>
              <a:t>One sentence on what this deck is for and who it is for.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6" type="body" hasCustomPrompt="1"/>
          </p:nvPr>
        </p:nvSpPr>
        <p:spPr>
          <a:xfrm>
            <a:off x="457200" y="47594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4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AUTHOR · 2026-10-27 · V0.1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>
            <p:ph idx="100" hasCustomPrompt="1"/>
          </p:nvPr>
        </p:nvPicPr>
        <p:blipFill>
          <a:blip r:embed="rId1"/>
          <a:srcRect l="0" r="0" t="0" b="0"/>
          <a:stretch/>
        </p:blipFill>
        <p:spPr>
          <a:xfrm>
            <a:off x="5120640" y="0"/>
            <a:ext cx="402336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5" type="body" hasCustomPrompt="1"/>
          </p:nvPr>
        </p:nvSpPr>
        <p:spPr>
          <a:xfrm>
            <a:off x="731520" y="1600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" kern="0" dirty="0">
                <a:solidFill>
                  <a:srgbClr val="DE5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MEDIA KIT · OCTOBER 2026</a:t>
            </a:r>
            <a:endParaRPr lang="en-US" sz="1000" dirty="0"/>
          </a:p>
        </p:txBody>
      </p:sp>
      <p:sp>
        <p:nvSpPr>
          <p:cNvPr id="3" name="Text 2"/>
          <p:cNvSpPr/>
          <p:nvPr>
            <p:ph idx="106" type="title" hasCustomPrompt="1"/>
          </p:nvPr>
        </p:nvSpPr>
        <p:spPr>
          <a:xfrm>
            <a:off x="457200" y="192024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spc="-80" kern="0" dirty="0">
                <a:solidFill>
                  <a:srgbClr val="F4F1EA"/>
                </a:solidFill>
              </a:rPr>
              <a:t>Space for everyone.</a:t>
            </a:r>
            <a:endParaRPr lang="en-US" sz="4000" dirty="0"/>
          </a:p>
        </p:txBody>
      </p:sp>
      <p:sp>
        <p:nvSpPr>
          <p:cNvPr id="4" name="Text 2"/>
          <p:cNvSpPr/>
          <p:nvPr>
            <p:ph idx="107" type="body" hasCustomPrompt="1"/>
          </p:nvPr>
        </p:nvSpPr>
        <p:spPr>
          <a:xfrm>
            <a:off x="457200" y="3931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8F879E"/>
                </a:solidFill>
              </a:rPr>
              <a:t>The Mission variant for outward-facing decks: sales, media, launches.</a:t>
            </a:r>
            <a:endParaRPr lang="en-US" sz="1800" dirty="0"/>
          </a:p>
        </p:txBody>
      </p:sp>
      <p:sp>
        <p:nvSpPr>
          <p:cNvPr id="5" name="Text 2"/>
          <p:cNvSpPr/>
          <p:nvPr>
            <p:ph idx="108" type="body" hasCustomPrompt="1"/>
          </p:nvPr>
        </p:nvSpPr>
        <p:spPr>
          <a:xfrm>
            <a:off x="457200" y="47594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4" kern="0" dirty="0">
                <a:solidFill>
                  <a:srgbClr val="8F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AUTHOR · 2026-10-27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>
            <p:ph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5440680" y="1051560"/>
            <a:ext cx="3063240" cy="20688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2344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0" dirty="0">
                <a:solidFill>
                  <a:srgbClr val="DDD7C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88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457200" y="27432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spc="-88" kern="0" dirty="0">
                <a:solidFill>
                  <a:srgbClr val="1F1F1F"/>
                </a:solidFill>
              </a:rPr>
              <a:t>Section divider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" kern="0" dirty="0">
                <a:solidFill>
                  <a:srgbClr val="DE5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2344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0" dirty="0">
                <a:solidFill>
                  <a:srgbClr val="3B33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88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457200" y="27432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spc="-88" kern="0" dirty="0">
                <a:solidFill>
                  <a:srgbClr val="F4F1EA"/>
                </a:solidFill>
              </a:rPr>
              <a:t>Section divider on the Mission surface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8F879E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ABOUT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spc="-64" kern="0" dirty="0">
                <a:solidFill>
                  <a:srgbClr val="1F1F1F"/>
                </a:solidFill>
              </a:rPr>
              <a:t>Title and body</a:t>
            </a:r>
            <a:endParaRPr lang="en-US" sz="3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417320"/>
            <a:ext cx="822960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F3F3F"/>
                </a:solidFill>
              </a:rPr>
              <a:t>Sentence case for titles and prose, one idea per slide.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F3F3F"/>
                </a:solidFill>
              </a:rPr>
              <a:t>Bullets are plain; no icons in the list, no emoji anywhere.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F3F3F"/>
                </a:solidFill>
              </a:rPr>
              <a:t>Figures and units in IBM Plex Mono – 100×100×227 mm, 12'059 CHF – so columns line up.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F3F3F"/>
                </a:solidFill>
              </a:rPr>
              <a:t>Caveats are part of the content – (WIP), TBD, PRELIMINARY – not hidden.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spc="-64" kern="0" dirty="0">
                <a:solidFill>
                  <a:srgbClr val="1F1F1F"/>
                </a:solidFill>
              </a:rPr>
              <a:t>Two columns</a:t>
            </a:r>
            <a:endParaRPr lang="en-US" sz="32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731520" y="1691640"/>
            <a:ext cx="347472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900" b="1" spc="27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LEFT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F3F3F"/>
                </a:solidFill>
              </a:rPr>
              <a:t>Before, option A, the problem, the hardware.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F3F3F"/>
                </a:solidFill>
              </a:rPr>
              <a:t>Three to five lines per column; the slide carries one comparison.</a:t>
            </a:r>
            <a:endParaRPr lang="en-US" sz="1400" dirty="0"/>
          </a:p>
        </p:txBody>
      </p:sp>
      <p:sp>
        <p:nvSpPr>
          <p:cNvPr id="5" name="Text 5"/>
          <p:cNvSpPr/>
          <p:nvPr>
            <p:ph idx="108" type="body" hasCustomPrompt="1"/>
          </p:nvPr>
        </p:nvSpPr>
        <p:spPr>
          <a:xfrm>
            <a:off x="4937760" y="1691640"/>
            <a:ext cx="347472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900" b="1" spc="27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RIGHT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F3F3F"/>
                </a:solidFill>
              </a:rPr>
              <a:t>After, option B, the proposal, the software.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F3F3F"/>
                </a:solidFill>
              </a:rPr>
              <a:t>Keep the two columns parallel in structure.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HARDWARE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71323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spc="-64" kern="0" dirty="0">
                <a:solidFill>
                  <a:srgbClr val="1F1F1F"/>
                </a:solidFill>
              </a:rPr>
              <a:t>Image and caption</a:t>
            </a:r>
            <a:endParaRPr lang="en-US" sz="3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82880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F3F3F"/>
                </a:solidFill>
              </a:rPr>
              <a:t>Hardware photography, true to life, no filters (Identity Guide §6).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F3F3F"/>
                </a:solidFill>
              </a:rPr>
              <a:t>The caption says what the picture shows and why it matters here.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>
            <p:ph idx="105" hasCustomPrompt="1"/>
          </p:nvPr>
        </p:nvPicPr>
        <p:blipFill>
          <a:blip r:embed="rId1"/>
          <a:srcRect l="0" r="0" t="0" b="0"/>
          <a:stretch/>
        </p:blipFill>
        <p:spPr>
          <a:xfrm>
            <a:off x="4709160" y="914400"/>
            <a:ext cx="3840480" cy="3063240"/>
          </a:xfrm>
          <a:prstGeom prst="rect">
            <a:avLst/>
          </a:prstGeom>
        </p:spPr>
      </p:pic>
      <p:sp>
        <p:nvSpPr>
          <p:cNvPr id="6" name="Text 2"/>
          <p:cNvSpPr/>
          <p:nvPr>
            <p:ph idx="106" type="body" hasCustomPrompt="1"/>
          </p:nvPr>
        </p:nvSpPr>
        <p:spPr>
          <a:xfrm>
            <a:off x="4572000" y="4187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7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FIG. 01 · EPS MAIN BOARD, BENCH BUILD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CHANNEL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spc="-64" kern="0" dirty="0">
                <a:solidFill>
                  <a:srgbClr val="1F1F1F"/>
                </a:solidFill>
              </a:rPr>
              <a:t>Key figures</a:t>
            </a:r>
            <a:endParaRPr lang="en-US" sz="3200" dirty="0"/>
          </a:p>
        </p:txBody>
      </p:sp>
      <p:sp>
        <p:nvSpPr>
          <p:cNvPr id="4" name="Hero card"/>
          <p:cNvSpPr/>
          <p:nvPr/>
        </p:nvSpPr>
        <p:spPr>
          <a:xfrm>
            <a:off x="457200" y="1417320"/>
            <a:ext cx="3017520" cy="2286000"/>
          </a:xfrm>
          <a:prstGeom prst="roundRect">
            <a:avLst>
              <a:gd name="adj" fmla="val 4000"/>
            </a:avLst>
          </a:prstGeom>
          <a:solidFill>
            <a:srgbClr val="004C8B"/>
          </a:solidFill>
          <a:ln w="12700">
            <a:solidFill>
              <a:srgbClr val="004C8B"/>
            </a:solidFill>
            <a:prstDash val="solid"/>
          </a:ln>
        </p:spPr>
      </p:sp>
      <p:sp>
        <p:nvSpPr>
          <p:cNvPr id="5" name="Hero card title"/>
          <p:cNvSpPr txBox="1"/>
          <p:nvPr/>
        </p:nvSpPr>
        <p:spPr>
          <a:xfrm>
            <a:off x="73152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NEXT MILESTONE</a:t>
            </a:r>
            <a:endParaRPr lang="en-US" sz="1600" dirty="0"/>
          </a:p>
        </p:txBody>
      </p:sp>
      <p:sp>
        <p:nvSpPr>
          <p:cNvPr id="6" name="Hero card rule"/>
          <p:cNvSpPr/>
          <p:nvPr/>
        </p:nvSpPr>
        <p:spPr>
          <a:xfrm>
            <a:off x="731520" y="2075688"/>
            <a:ext cx="365760" cy="27432"/>
          </a:xfrm>
          <a:prstGeom prst="rect">
            <a:avLst/>
          </a:prstGeom>
          <a:solidFill>
            <a:srgbClr val="E94538"/>
          </a:solidFill>
          <a:ln w="12700">
            <a:solidFill>
              <a:srgbClr val="E94538"/>
            </a:solidFill>
            <a:prstDash val="solid"/>
          </a:ln>
        </p:spPr>
      </p:sp>
      <p:sp>
        <p:nvSpPr>
          <p:cNvPr id="7" name="Hero card figure"/>
          <p:cNvSpPr txBox="1"/>
          <p:nvPr/>
        </p:nvSpPr>
        <p:spPr>
          <a:xfrm>
            <a:off x="731520" y="2240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2027-Q1</a:t>
            </a:r>
            <a:endParaRPr lang="en-US" sz="4400" dirty="0"/>
          </a:p>
        </p:txBody>
      </p:sp>
      <p:sp>
        <p:nvSpPr>
          <p:cNvPr id="8" name="Hero card label"/>
          <p:cNvSpPr txBox="1"/>
          <p:nvPr/>
        </p:nvSpPr>
        <p:spPr>
          <a:xfrm>
            <a:off x="731520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Dev Kit v1 ships</a:t>
            </a:r>
            <a:endParaRPr lang="en-US" sz="1400" dirty="0"/>
          </a:p>
        </p:txBody>
      </p:sp>
      <p:sp>
        <p:nvSpPr>
          <p:cNvPr id="9" name="Stat 1"/>
          <p:cNvSpPr/>
          <p:nvPr/>
        </p:nvSpPr>
        <p:spPr>
          <a:xfrm>
            <a:off x="3703320" y="1417320"/>
            <a:ext cx="2514600" cy="1069848"/>
          </a:xfrm>
          <a:prstGeom prst="roundRect">
            <a:avLst>
              <a:gd name="adj" fmla="val 8547"/>
            </a:avLst>
          </a:prstGeom>
          <a:solidFill>
            <a:srgbClr val="F9F7F4"/>
          </a:solidFill>
          <a:ln w="9525">
            <a:solidFill>
              <a:srgbClr val="D7D3D2"/>
            </a:solidFill>
            <a:prstDash val="solid"/>
          </a:ln>
        </p:spPr>
      </p:sp>
      <p:sp>
        <p:nvSpPr>
          <p:cNvPr id="10" name="Stat 1 rule"/>
          <p:cNvSpPr/>
          <p:nvPr/>
        </p:nvSpPr>
        <p:spPr>
          <a:xfrm>
            <a:off x="3813048" y="1417320"/>
            <a:ext cx="2295144" cy="45720"/>
          </a:xfrm>
          <a:prstGeom prst="rect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</p:sp>
      <p:sp>
        <p:nvSpPr>
          <p:cNvPr id="11" name="Stat 1 source"/>
          <p:cNvSpPr txBox="1"/>
          <p:nvPr/>
        </p:nvSpPr>
        <p:spPr>
          <a:xfrm>
            <a:off x="3931920" y="155448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7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YOUTUBE · 2026-10</a:t>
            </a:r>
            <a:endParaRPr lang="en-US" sz="900" dirty="0"/>
          </a:p>
        </p:txBody>
      </p:sp>
      <p:sp>
        <p:nvSpPr>
          <p:cNvPr id="12" name="Stat 1 value"/>
          <p:cNvSpPr txBox="1"/>
          <p:nvPr/>
        </p:nvSpPr>
        <p:spPr>
          <a:xfrm>
            <a:off x="3931920" y="17647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6'836</a:t>
            </a:r>
            <a:endParaRPr lang="en-US" sz="3000" dirty="0"/>
          </a:p>
        </p:txBody>
      </p:sp>
      <p:sp>
        <p:nvSpPr>
          <p:cNvPr id="13" name="Stat 1 label"/>
          <p:cNvSpPr txBox="1"/>
          <p:nvPr/>
        </p:nvSpPr>
        <p:spPr>
          <a:xfrm>
            <a:off x="3931920" y="220370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</a:rPr>
              <a:t>Subscribers</a:t>
            </a:r>
            <a:endParaRPr lang="en-US" sz="1400" dirty="0"/>
          </a:p>
        </p:txBody>
      </p:sp>
      <p:sp>
        <p:nvSpPr>
          <p:cNvPr id="14" name="Stat 2"/>
          <p:cNvSpPr/>
          <p:nvPr/>
        </p:nvSpPr>
        <p:spPr>
          <a:xfrm>
            <a:off x="6400800" y="1417320"/>
            <a:ext cx="2514600" cy="1069848"/>
          </a:xfrm>
          <a:prstGeom prst="roundRect">
            <a:avLst>
              <a:gd name="adj" fmla="val 8547"/>
            </a:avLst>
          </a:prstGeom>
          <a:solidFill>
            <a:srgbClr val="F9F7F4"/>
          </a:solidFill>
          <a:ln w="9525">
            <a:solidFill>
              <a:srgbClr val="D7D3D2"/>
            </a:solidFill>
            <a:prstDash val="solid"/>
          </a:ln>
        </p:spPr>
      </p:sp>
      <p:sp>
        <p:nvSpPr>
          <p:cNvPr id="15" name="Stat 2 rule"/>
          <p:cNvSpPr/>
          <p:nvPr/>
        </p:nvSpPr>
        <p:spPr>
          <a:xfrm>
            <a:off x="6510528" y="1417320"/>
            <a:ext cx="2295144" cy="4572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16" name="Stat 2 source"/>
          <p:cNvSpPr txBox="1"/>
          <p:nvPr/>
        </p:nvSpPr>
        <p:spPr>
          <a:xfrm>
            <a:off x="6629400" y="155448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7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AUDIENCE</a:t>
            </a:r>
            <a:endParaRPr lang="en-US" sz="900" dirty="0"/>
          </a:p>
        </p:txBody>
      </p:sp>
      <p:sp>
        <p:nvSpPr>
          <p:cNvPr id="17" name="Stat 2 value"/>
          <p:cNvSpPr txBox="1"/>
          <p:nvPr/>
        </p:nvSpPr>
        <p:spPr>
          <a:xfrm>
            <a:off x="6629400" y="17647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83 %</a:t>
            </a:r>
            <a:endParaRPr lang="en-US" sz="3000" dirty="0"/>
          </a:p>
        </p:txBody>
      </p:sp>
      <p:sp>
        <p:nvSpPr>
          <p:cNvPr id="18" name="Stat 2 label"/>
          <p:cNvSpPr txBox="1"/>
          <p:nvPr/>
        </p:nvSpPr>
        <p:spPr>
          <a:xfrm>
            <a:off x="6629400" y="220370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</a:rPr>
              <a:t>Ages 25–44</a:t>
            </a:r>
            <a:endParaRPr lang="en-US" sz="1400" dirty="0"/>
          </a:p>
        </p:txBody>
      </p:sp>
      <p:sp>
        <p:nvSpPr>
          <p:cNvPr id="19" name="Stat 3"/>
          <p:cNvSpPr/>
          <p:nvPr/>
        </p:nvSpPr>
        <p:spPr>
          <a:xfrm>
            <a:off x="3703320" y="2633472"/>
            <a:ext cx="2514600" cy="1069848"/>
          </a:xfrm>
          <a:prstGeom prst="roundRect">
            <a:avLst>
              <a:gd name="adj" fmla="val 8547"/>
            </a:avLst>
          </a:prstGeom>
          <a:solidFill>
            <a:srgbClr val="F9F7F4"/>
          </a:solidFill>
          <a:ln w="9525">
            <a:solidFill>
              <a:srgbClr val="D7D3D2"/>
            </a:solidFill>
            <a:prstDash val="solid"/>
          </a:ln>
        </p:spPr>
      </p:sp>
      <p:sp>
        <p:nvSpPr>
          <p:cNvPr id="20" name="Stat 3 rule"/>
          <p:cNvSpPr/>
          <p:nvPr/>
        </p:nvSpPr>
        <p:spPr>
          <a:xfrm>
            <a:off x="3813048" y="2633472"/>
            <a:ext cx="2295144" cy="45720"/>
          </a:xfrm>
          <a:prstGeom prst="rect">
            <a:avLst/>
          </a:prstGeom>
          <a:solidFill>
            <a:srgbClr val="C64677"/>
          </a:solidFill>
          <a:ln w="12700">
            <a:solidFill>
              <a:srgbClr val="C64677"/>
            </a:solidFill>
            <a:prstDash val="solid"/>
          </a:ln>
        </p:spPr>
      </p:sp>
      <p:sp>
        <p:nvSpPr>
          <p:cNvPr id="21" name="Stat 3 source"/>
          <p:cNvSpPr txBox="1"/>
          <p:nvPr/>
        </p:nvSpPr>
        <p:spPr>
          <a:xfrm>
            <a:off x="3931920" y="27706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7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 HARDWARE</a:t>
            </a:r>
            <a:endParaRPr lang="en-US" sz="900" dirty="0"/>
          </a:p>
        </p:txBody>
      </p:sp>
      <p:sp>
        <p:nvSpPr>
          <p:cNvPr id="22" name="Stat 3 value"/>
          <p:cNvSpPr txBox="1"/>
          <p:nvPr/>
        </p:nvSpPr>
        <p:spPr>
          <a:xfrm>
            <a:off x="3931920" y="298094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3000" dirty="0"/>
          </a:p>
        </p:txBody>
      </p:sp>
      <p:sp>
        <p:nvSpPr>
          <p:cNvPr id="23" name="Stat 3 label"/>
          <p:cNvSpPr txBox="1"/>
          <p:nvPr/>
        </p:nvSpPr>
        <p:spPr>
          <a:xfrm>
            <a:off x="3931920" y="341985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</a:rPr>
              <a:t>Boards released</a:t>
            </a:r>
            <a:endParaRPr lang="en-US" sz="1400" dirty="0"/>
          </a:p>
        </p:txBody>
      </p:sp>
      <p:sp>
        <p:nvSpPr>
          <p:cNvPr id="24" name="Stat 4"/>
          <p:cNvSpPr/>
          <p:nvPr/>
        </p:nvSpPr>
        <p:spPr>
          <a:xfrm>
            <a:off x="6400800" y="2633472"/>
            <a:ext cx="2514600" cy="1069848"/>
          </a:xfrm>
          <a:prstGeom prst="roundRect">
            <a:avLst>
              <a:gd name="adj" fmla="val 8547"/>
            </a:avLst>
          </a:prstGeom>
          <a:solidFill>
            <a:srgbClr val="F9F7F4"/>
          </a:solidFill>
          <a:ln w="9525">
            <a:solidFill>
              <a:srgbClr val="D7D3D2"/>
            </a:solidFill>
            <a:prstDash val="solid"/>
          </a:ln>
        </p:spPr>
      </p:sp>
      <p:sp>
        <p:nvSpPr>
          <p:cNvPr id="25" name="Stat 4 rule"/>
          <p:cNvSpPr/>
          <p:nvPr/>
        </p:nvSpPr>
        <p:spPr>
          <a:xfrm>
            <a:off x="6510528" y="2633472"/>
            <a:ext cx="2295144" cy="45720"/>
          </a:xfrm>
          <a:prstGeom prst="rect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</p:sp>
      <p:sp>
        <p:nvSpPr>
          <p:cNvPr id="26" name="Stat 4 source"/>
          <p:cNvSpPr txBox="1"/>
          <p:nvPr/>
        </p:nvSpPr>
        <p:spPr>
          <a:xfrm>
            <a:off x="6629400" y="27706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7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DEV KIT V1</a:t>
            </a:r>
            <a:endParaRPr lang="en-US" sz="900" dirty="0"/>
          </a:p>
        </p:txBody>
      </p:sp>
      <p:sp>
        <p:nvSpPr>
          <p:cNvPr id="27" name="Stat 4 value"/>
          <p:cNvSpPr txBox="1"/>
          <p:nvPr/>
        </p:nvSpPr>
        <p:spPr>
          <a:xfrm>
            <a:off x="6629400" y="298094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2U</a:t>
            </a:r>
            <a:endParaRPr lang="en-US" sz="3000" dirty="0"/>
          </a:p>
        </p:txBody>
      </p:sp>
      <p:sp>
        <p:nvSpPr>
          <p:cNvPr id="28" name="Stat 4 label"/>
          <p:cNvSpPr txBox="1"/>
          <p:nvPr/>
        </p:nvSpPr>
        <p:spPr>
          <a:xfrm>
            <a:off x="6629400" y="341985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</a:rPr>
              <a:t>Form factor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" kern="0" dirty="0">
                <a:solidFill>
                  <a:srgbClr val="DE5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TIMELINE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spc="-64" kern="0" dirty="0">
                <a:solidFill>
                  <a:srgbClr val="F4F1EA"/>
                </a:solidFill>
              </a:rPr>
              <a:t>From a bench project to a kit on sale</a:t>
            </a:r>
            <a:endParaRPr lang="en-US" sz="3200" dirty="0"/>
          </a:p>
        </p:txBody>
      </p:sp>
      <p:sp>
        <p:nvSpPr>
          <p:cNvPr id="4" name="Timeline segment 1"/>
          <p:cNvSpPr/>
          <p:nvPr/>
        </p:nvSpPr>
        <p:spPr>
          <a:xfrm>
            <a:off x="1234440" y="2103120"/>
            <a:ext cx="1668780" cy="0"/>
          </a:xfrm>
          <a:prstGeom prst="line">
            <a:avLst/>
          </a:prstGeom>
          <a:noFill/>
          <a:ln w="25400">
            <a:solidFill>
              <a:srgbClr val="0E9594"/>
            </a:solidFill>
            <a:prstDash val="solid"/>
          </a:ln>
        </p:spPr>
      </p:sp>
      <p:sp>
        <p:nvSpPr>
          <p:cNvPr id="5" name="Timeline segment 2"/>
          <p:cNvSpPr/>
          <p:nvPr/>
        </p:nvSpPr>
        <p:spPr>
          <a:xfrm>
            <a:off x="2903220" y="2103120"/>
            <a:ext cx="1668780" cy="0"/>
          </a:xfrm>
          <a:prstGeom prst="line">
            <a:avLst/>
          </a:prstGeom>
          <a:noFill/>
          <a:ln w="25400">
            <a:solidFill>
              <a:srgbClr val="0E9594"/>
            </a:solidFill>
            <a:prstDash val="solid"/>
          </a:ln>
        </p:spPr>
      </p:sp>
      <p:sp>
        <p:nvSpPr>
          <p:cNvPr id="6" name="Timeline segment 3"/>
          <p:cNvSpPr/>
          <p:nvPr/>
        </p:nvSpPr>
        <p:spPr>
          <a:xfrm>
            <a:off x="4572000" y="2103120"/>
            <a:ext cx="1668780" cy="0"/>
          </a:xfrm>
          <a:prstGeom prst="line">
            <a:avLst/>
          </a:prstGeom>
          <a:noFill/>
          <a:ln w="25400">
            <a:solidFill>
              <a:srgbClr val="0E9594"/>
            </a:solidFill>
            <a:prstDash val="solid"/>
          </a:ln>
        </p:spPr>
      </p:sp>
      <p:sp>
        <p:nvSpPr>
          <p:cNvPr id="7" name="Timeline segment 4"/>
          <p:cNvSpPr/>
          <p:nvPr/>
        </p:nvSpPr>
        <p:spPr>
          <a:xfrm>
            <a:off x="6240780" y="2103120"/>
            <a:ext cx="1668780" cy="0"/>
          </a:xfrm>
          <a:prstGeom prst="line">
            <a:avLst/>
          </a:prstGeom>
          <a:noFill/>
          <a:ln w="12700">
            <a:solidFill>
              <a:srgbClr val="8F879E"/>
            </a:solidFill>
            <a:prstDash val="dash"/>
          </a:ln>
        </p:spPr>
      </p:sp>
      <p:sp>
        <p:nvSpPr>
          <p:cNvPr id="8" name="Step 1 mark"/>
          <p:cNvSpPr/>
          <p:nvPr/>
        </p:nvSpPr>
        <p:spPr>
          <a:xfrm>
            <a:off x="1143000" y="2011680"/>
            <a:ext cx="182880" cy="182880"/>
          </a:xfrm>
          <a:prstGeom prst="ellipse">
            <a:avLst/>
          </a:prstGeom>
          <a:solidFill>
            <a:srgbClr val="0E9594"/>
          </a:solidFill>
          <a:ln w="19050">
            <a:solidFill>
              <a:srgbClr val="0E9594"/>
            </a:solidFill>
            <a:prstDash val="solid"/>
          </a:ln>
        </p:spPr>
      </p:sp>
      <p:sp>
        <p:nvSpPr>
          <p:cNvPr id="9" name="Step 1 date"/>
          <p:cNvSpPr txBox="1"/>
          <p:nvPr/>
        </p:nvSpPr>
        <p:spPr>
          <a:xfrm>
            <a:off x="457200" y="1645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spc="27" kern="0" dirty="0">
                <a:solidFill>
                  <a:srgbClr val="1A9A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2020</a:t>
            </a:r>
            <a:endParaRPr lang="en-US" sz="900" dirty="0"/>
          </a:p>
        </p:txBody>
      </p:sp>
      <p:sp>
        <p:nvSpPr>
          <p:cNvPr id="10" name="Step 1 title"/>
          <p:cNvSpPr txBox="1"/>
          <p:nvPr/>
        </p:nvSpPr>
        <p:spPr>
          <a:xfrm>
            <a:off x="457200" y="2322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1EA"/>
                </a:solidFill>
              </a:rPr>
              <a:t>Project start</a:t>
            </a:r>
            <a:endParaRPr lang="en-US" sz="1300" dirty="0"/>
          </a:p>
        </p:txBody>
      </p:sp>
      <p:sp>
        <p:nvSpPr>
          <p:cNvPr id="11" name="Step 1 text"/>
          <p:cNvSpPr txBox="1"/>
          <p:nvPr/>
        </p:nvSpPr>
        <p:spPr>
          <a:xfrm>
            <a:off x="502920" y="261518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879E"/>
                </a:solidFill>
              </a:rPr>
              <a:t>Build a CubeSat begins</a:t>
            </a:r>
            <a:endParaRPr lang="en-US" sz="1000" dirty="0"/>
          </a:p>
        </p:txBody>
      </p:sp>
      <p:sp>
        <p:nvSpPr>
          <p:cNvPr id="12" name="Step 2 mark"/>
          <p:cNvSpPr/>
          <p:nvPr/>
        </p:nvSpPr>
        <p:spPr>
          <a:xfrm>
            <a:off x="2811780" y="2011680"/>
            <a:ext cx="182880" cy="182880"/>
          </a:xfrm>
          <a:prstGeom prst="ellipse">
            <a:avLst/>
          </a:prstGeom>
          <a:solidFill>
            <a:srgbClr val="0E9594"/>
          </a:solidFill>
          <a:ln w="19050">
            <a:solidFill>
              <a:srgbClr val="0E9594"/>
            </a:solidFill>
            <a:prstDash val="solid"/>
          </a:ln>
        </p:spPr>
      </p:sp>
      <p:sp>
        <p:nvSpPr>
          <p:cNvPr id="13" name="Step 2 date"/>
          <p:cNvSpPr txBox="1"/>
          <p:nvPr/>
        </p:nvSpPr>
        <p:spPr>
          <a:xfrm>
            <a:off x="2125980" y="1645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spc="27" kern="0" dirty="0">
                <a:solidFill>
                  <a:srgbClr val="1A9A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2024</a:t>
            </a:r>
            <a:endParaRPr lang="en-US" sz="900" dirty="0"/>
          </a:p>
        </p:txBody>
      </p:sp>
      <p:sp>
        <p:nvSpPr>
          <p:cNvPr id="14" name="Step 2 title"/>
          <p:cNvSpPr txBox="1"/>
          <p:nvPr/>
        </p:nvSpPr>
        <p:spPr>
          <a:xfrm>
            <a:off x="2125980" y="2322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1EA"/>
                </a:solidFill>
              </a:rPr>
              <a:t>YouTube devlog</a:t>
            </a:r>
            <a:endParaRPr lang="en-US" sz="1300" dirty="0"/>
          </a:p>
        </p:txBody>
      </p:sp>
      <p:sp>
        <p:nvSpPr>
          <p:cNvPr id="15" name="Step 2 text"/>
          <p:cNvSpPr txBox="1"/>
          <p:nvPr/>
        </p:nvSpPr>
        <p:spPr>
          <a:xfrm>
            <a:off x="2171700" y="261518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879E"/>
                </a:solidFill>
              </a:rPr>
              <a:t>Every design step in public</a:t>
            </a:r>
            <a:endParaRPr lang="en-US" sz="1000" dirty="0"/>
          </a:p>
        </p:txBody>
      </p:sp>
      <p:sp>
        <p:nvSpPr>
          <p:cNvPr id="16" name="Step 3 mark"/>
          <p:cNvSpPr/>
          <p:nvPr/>
        </p:nvSpPr>
        <p:spPr>
          <a:xfrm>
            <a:off x="4480560" y="2011680"/>
            <a:ext cx="182880" cy="182880"/>
          </a:xfrm>
          <a:prstGeom prst="ellipse">
            <a:avLst/>
          </a:prstGeom>
          <a:solidFill>
            <a:srgbClr val="0E9594"/>
          </a:solidFill>
          <a:ln w="19050">
            <a:solidFill>
              <a:srgbClr val="0E9594"/>
            </a:solidFill>
            <a:prstDash val="solid"/>
          </a:ln>
        </p:spPr>
      </p:sp>
      <p:sp>
        <p:nvSpPr>
          <p:cNvPr id="17" name="Step 3 date"/>
          <p:cNvSpPr txBox="1"/>
          <p:nvPr/>
        </p:nvSpPr>
        <p:spPr>
          <a:xfrm>
            <a:off x="3794760" y="1645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spc="27" kern="0" dirty="0">
                <a:solidFill>
                  <a:srgbClr val="1A9A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2025</a:t>
            </a:r>
            <a:endParaRPr lang="en-US" sz="900" dirty="0"/>
          </a:p>
        </p:txBody>
      </p:sp>
      <p:sp>
        <p:nvSpPr>
          <p:cNvPr id="18" name="Step 3 title"/>
          <p:cNvSpPr txBox="1"/>
          <p:nvPr/>
        </p:nvSpPr>
        <p:spPr>
          <a:xfrm>
            <a:off x="3794760" y="2322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1EA"/>
                </a:solidFill>
              </a:rPr>
              <a:t>Suborbital test</a:t>
            </a:r>
            <a:endParaRPr lang="en-US" sz="1300" dirty="0"/>
          </a:p>
        </p:txBody>
      </p:sp>
      <p:sp>
        <p:nvSpPr>
          <p:cNvPr id="19" name="Step 3 text"/>
          <p:cNvSpPr txBox="1"/>
          <p:nvPr/>
        </p:nvSpPr>
        <p:spPr>
          <a:xfrm>
            <a:off x="3840480" y="261518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879E"/>
                </a:solidFill>
              </a:rPr>
              <a:t>First flight of BAC hardware</a:t>
            </a:r>
            <a:endParaRPr lang="en-US" sz="1000" dirty="0"/>
          </a:p>
        </p:txBody>
      </p:sp>
      <p:sp>
        <p:nvSpPr>
          <p:cNvPr id="20" name="Step 4 mark"/>
          <p:cNvSpPr/>
          <p:nvPr/>
        </p:nvSpPr>
        <p:spPr>
          <a:xfrm>
            <a:off x="6121908" y="1984248"/>
            <a:ext cx="237744" cy="237744"/>
          </a:xfrm>
          <a:prstGeom prst="ellipse">
            <a:avLst/>
          </a:prstGeom>
          <a:solidFill>
            <a:srgbClr val="F7D400"/>
          </a:solidFill>
          <a:ln w="19050">
            <a:solidFill>
              <a:srgbClr val="F7D400"/>
            </a:solidFill>
            <a:prstDash val="solid"/>
          </a:ln>
        </p:spPr>
      </p:sp>
      <p:sp>
        <p:nvSpPr>
          <p:cNvPr id="21" name="Step 4 date"/>
          <p:cNvSpPr txBox="1"/>
          <p:nvPr/>
        </p:nvSpPr>
        <p:spPr>
          <a:xfrm>
            <a:off x="5463540" y="1645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spc="27" kern="0" dirty="0">
                <a:solidFill>
                  <a:srgbClr val="F7D4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2026-12</a:t>
            </a:r>
            <a:endParaRPr lang="en-US" sz="900" dirty="0"/>
          </a:p>
        </p:txBody>
      </p:sp>
      <p:sp>
        <p:nvSpPr>
          <p:cNvPr id="22" name="Step 4 title"/>
          <p:cNvSpPr txBox="1"/>
          <p:nvPr/>
        </p:nvSpPr>
        <p:spPr>
          <a:xfrm>
            <a:off x="5463540" y="2322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1EA"/>
                </a:solidFill>
              </a:rPr>
              <a:t>Dev Kit v1 orders</a:t>
            </a:r>
            <a:endParaRPr lang="en-US" sz="1300" dirty="0"/>
          </a:p>
        </p:txBody>
      </p:sp>
      <p:sp>
        <p:nvSpPr>
          <p:cNvPr id="23" name="Step 4 text"/>
          <p:cNvSpPr txBox="1"/>
          <p:nvPr/>
        </p:nvSpPr>
        <p:spPr>
          <a:xfrm>
            <a:off x="5509260" y="261518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879E"/>
                </a:solidFill>
              </a:rPr>
              <a:t>2U development kit, open hardware</a:t>
            </a:r>
            <a:endParaRPr lang="en-US" sz="1000" dirty="0"/>
          </a:p>
        </p:txBody>
      </p:sp>
      <p:sp>
        <p:nvSpPr>
          <p:cNvPr id="24" name="Step 5 mark"/>
          <p:cNvSpPr/>
          <p:nvPr/>
        </p:nvSpPr>
        <p:spPr>
          <a:xfrm>
            <a:off x="7818120" y="2011680"/>
            <a:ext cx="182880" cy="182880"/>
          </a:xfrm>
          <a:prstGeom prst="ellipse">
            <a:avLst/>
          </a:prstGeom>
          <a:solidFill>
            <a:srgbClr val="171320"/>
          </a:solidFill>
          <a:ln w="19050">
            <a:solidFill>
              <a:srgbClr val="8F879E"/>
            </a:solidFill>
            <a:prstDash val="solid"/>
          </a:ln>
        </p:spPr>
      </p:sp>
      <p:sp>
        <p:nvSpPr>
          <p:cNvPr id="25" name="Step 5 date"/>
          <p:cNvSpPr txBox="1"/>
          <p:nvPr/>
        </p:nvSpPr>
        <p:spPr>
          <a:xfrm>
            <a:off x="7132320" y="1645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spc="27" kern="0" dirty="0">
                <a:solidFill>
                  <a:srgbClr val="1A9A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2027-01</a:t>
            </a:r>
            <a:endParaRPr lang="en-US" sz="900" dirty="0"/>
          </a:p>
        </p:txBody>
      </p:sp>
      <p:sp>
        <p:nvSpPr>
          <p:cNvPr id="26" name="Step 5 title"/>
          <p:cNvSpPr txBox="1"/>
          <p:nvPr/>
        </p:nvSpPr>
        <p:spPr>
          <a:xfrm>
            <a:off x="7132320" y="2322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1EA"/>
                </a:solidFill>
              </a:rPr>
              <a:t>Dev Kit v1 ships</a:t>
            </a:r>
            <a:endParaRPr lang="en-US" sz="1300" dirty="0"/>
          </a:p>
        </p:txBody>
      </p:sp>
      <p:sp>
        <p:nvSpPr>
          <p:cNvPr id="27" name="Step 5 text"/>
          <p:cNvSpPr txBox="1"/>
          <p:nvPr/>
        </p:nvSpPr>
        <p:spPr>
          <a:xfrm>
            <a:off x="7178040" y="261518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879E"/>
                </a:solidFill>
              </a:rPr>
              <a:t>First kits leave Bern</a:t>
            </a:r>
            <a:endParaRPr lang="en-US" sz="1000" dirty="0"/>
          </a:p>
        </p:txBody>
      </p:sp>
      <p:sp>
        <p:nvSpPr>
          <p:cNvPr id="28" name="Callout"/>
          <p:cNvSpPr/>
          <p:nvPr/>
        </p:nvSpPr>
        <p:spPr>
          <a:xfrm>
            <a:off x="457200" y="34290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01421">
              <a:alpha val="75000"/>
            </a:srgbClr>
          </a:solidFill>
          <a:ln w="12700">
            <a:solidFill>
              <a:srgbClr val="0E9594">
                <a:alpha val="55000"/>
              </a:srgbClr>
            </a:solidFill>
            <a:prstDash val="solid"/>
          </a:ln>
        </p:spPr>
      </p:sp>
      <p:sp>
        <p:nvSpPr>
          <p:cNvPr id="29" name="Callout label"/>
          <p:cNvSpPr txBox="1"/>
          <p:nvPr/>
        </p:nvSpPr>
        <p:spPr>
          <a:xfrm>
            <a:off x="731520" y="3566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7" kern="0" dirty="0">
                <a:solidFill>
                  <a:srgbClr val="DE5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</a:t>
            </a:r>
            <a:endParaRPr lang="en-US" sz="900" dirty="0"/>
          </a:p>
        </p:txBody>
      </p:sp>
      <p:sp>
        <p:nvSpPr>
          <p:cNvPr id="30" name="Callout text"/>
          <p:cNvSpPr txBox="1"/>
          <p:nvPr/>
        </p:nvSpPr>
        <p:spPr>
          <a:xfrm>
            <a:off x="731520" y="3794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</a:rPr>
              <a:t>Dev Kit v1 orders open in December; shipping early January 2027.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8F879E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" kern="0" dirty="0">
                <a:solidFill>
                  <a:srgbClr val="1F1F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SPECIFICATIONS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spc="-64" kern="0" dirty="0">
                <a:solidFill>
                  <a:srgbClr val="1F1F1F"/>
                </a:solidFill>
              </a:rPr>
              <a:t>Table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30861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7" kern="0" dirty="0">
                          <a:solidFill>
                            <a:srgbClr val="6D6D6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PARAMETER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7" kern="0" dirty="0">
                          <a:solidFill>
                            <a:srgbClr val="6D6D6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VALUE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7" kern="0" dirty="0">
                          <a:solidFill>
                            <a:srgbClr val="6D6D6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NOTE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</a:rPr>
                        <a:t>Form factor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7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2U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7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</a:rPr>
                        <a:t>100×100×227 mm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7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</a:rPr>
                        <a:t>Bus voltage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7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3.3 V / 5 V / 12 V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7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</a:rPr>
                        <a:t>bacBus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7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</a:rPr>
                        <a:t>Battery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7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2S2P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7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</a:rPr>
                        <a:t>Li-ion, development only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7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</a:rPr>
                        <a:t>Mass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7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TBD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7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</a:rPr>
                        <a:t>(WIP) – measured on the flight build</a:t>
                      </a:r>
                      <a:endParaRPr lang="en-US" sz="1400" dirty="0"/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7D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132588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spc="-60" kern="0" dirty="0">
                <a:solidFill>
                  <a:srgbClr val="1F1F1F"/>
                </a:solidFill>
              </a:rPr>
              <a:t>Engineering should be understandable.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ph idx="104" hasCustomPrompt="1"/>
          </p:nvPr>
        </p:nvPicPr>
        <p:blipFill>
          <a:blip r:embed="rId1"/>
          <a:stretch>
            <a:fillRect/>
          </a:stretch>
        </p:blipFill>
        <p:spPr>
          <a:xfrm>
            <a:off x="457200" y="3730752"/>
            <a:ext cx="348794" cy="566928"/>
          </a:xfrm>
          <a:prstGeom prst="rect">
            <a:avLst/>
          </a:prstGeom>
        </p:spPr>
      </p:pic>
      <p:sp>
        <p:nvSpPr>
          <p:cNvPr id="4" name="Text 2"/>
          <p:cNvSpPr/>
          <p:nvPr>
            <p:ph idx="105" type="body" hasCustomPrompt="1"/>
          </p:nvPr>
        </p:nvSpPr>
        <p:spPr>
          <a:xfrm>
            <a:off x="1188720" y="3749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Build a CubeSat</a:t>
            </a:r>
            <a:endParaRPr lang="en-US" sz="14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1188720" y="404164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7" kern="0" dirty="0">
                <a:solidFill>
                  <a:srgbClr val="6D6D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IDENTITY GUIDE · §2 VOICE &amp; TONE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>
            <p:ph idx="100" hasCustomPrompt="1"/>
          </p:nvPr>
        </p:nvPicPr>
        <p:blipFill>
          <a:blip r:embed="rId2"/>
          <a:srcRect l="0" r="0" t="0" b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1828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spc="-88" kern="0" dirty="0">
                <a:solidFill>
                  <a:srgbClr val="F4F1EA"/>
                </a:solidFill>
              </a:rPr>
              <a:t>Let's talk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27889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hello@buildacubesat.space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buildacubesat.space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+41 31 561 93 45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8F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nihil.space GmbH · Egghölzlistrasse 20 · 3006 Bern</a:t>
            </a:r>
            <a:endParaRPr lang="en-US" sz="13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457200" y="47594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4" kern="0" dirty="0">
                <a:solidFill>
                  <a:srgbClr val="8F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MEDIA KIT · 2026-10-27</a:t>
            </a:r>
            <a:endParaRPr lang="en-US" sz="800" dirty="0"/>
          </a:p>
        </p:txBody>
      </p:sp>
      <p:sp>
        <p:nvSpPr>
          <p:cNvPr id="5" name="Resources card"/>
          <p:cNvSpPr/>
          <p:nvPr/>
        </p:nvSpPr>
        <p:spPr>
          <a:xfrm>
            <a:off x="5806440" y="1143000"/>
            <a:ext cx="2880360" cy="2926080"/>
          </a:xfrm>
          <a:prstGeom prst="roundRect">
            <a:avLst>
              <a:gd name="adj" fmla="val 3175"/>
            </a:avLst>
          </a:prstGeom>
          <a:solidFill>
            <a:srgbClr val="101421">
              <a:alpha val="75000"/>
            </a:srgbClr>
          </a:solidFill>
          <a:ln w="12700">
            <a:solidFill>
              <a:srgbClr val="0E9594">
                <a:alpha val="55000"/>
              </a:srgbClr>
            </a:solidFill>
            <a:prstDash val="solid"/>
          </a:ln>
        </p:spPr>
      </p:sp>
      <p:sp>
        <p:nvSpPr>
          <p:cNvPr id="6" name="Resources label"/>
          <p:cNvSpPr txBox="1"/>
          <p:nvPr/>
        </p:nvSpPr>
        <p:spPr>
          <a:xfrm>
            <a:off x="6035040" y="13258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7" kern="0" dirty="0">
                <a:solidFill>
                  <a:srgbClr val="DE5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RESOURCES</a:t>
            </a:r>
            <a:endParaRPr lang="en-US" sz="900" dirty="0"/>
          </a:p>
        </p:txBody>
      </p:sp>
      <p:sp>
        <p:nvSpPr>
          <p:cNvPr id="7" name="Resource 1"/>
          <p:cNvSpPr txBox="1"/>
          <p:nvPr/>
        </p:nvSpPr>
        <p:spPr>
          <a:xfrm>
            <a:off x="6035040" y="1691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</a:rPr>
              <a:t>Documentation</a:t>
            </a:r>
            <a:endParaRPr lang="en-US" sz="1300" dirty="0"/>
          </a:p>
        </p:txBody>
      </p:sp>
      <p:sp>
        <p:nvSpPr>
          <p:cNvPr id="8" name="Resource 1 link"/>
          <p:cNvSpPr txBox="1"/>
          <p:nvPr/>
        </p:nvSpPr>
        <p:spPr>
          <a:xfrm>
            <a:off x="6035040" y="19659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7" kern="0" dirty="0">
                <a:solidFill>
                  <a:srgbClr val="1A9A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docs.buildacubesat.space</a:t>
            </a:r>
            <a:endParaRPr lang="en-US" sz="900" dirty="0"/>
          </a:p>
        </p:txBody>
      </p:sp>
      <p:sp>
        <p:nvSpPr>
          <p:cNvPr id="9" name="Resource 2"/>
          <p:cNvSpPr txBox="1"/>
          <p:nvPr/>
        </p:nvSpPr>
        <p:spPr>
          <a:xfrm>
            <a:off x="6035040" y="24414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</a:rPr>
              <a:t>Hardware</a:t>
            </a:r>
            <a:endParaRPr lang="en-US" sz="1300" dirty="0"/>
          </a:p>
        </p:txBody>
      </p:sp>
      <p:sp>
        <p:nvSpPr>
          <p:cNvPr id="10" name="Resource 2 link"/>
          <p:cNvSpPr txBox="1"/>
          <p:nvPr/>
        </p:nvSpPr>
        <p:spPr>
          <a:xfrm>
            <a:off x="6035040" y="271576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7" kern="0" dirty="0">
                <a:solidFill>
                  <a:srgbClr val="1A9A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bac.page/hardware</a:t>
            </a:r>
            <a:endParaRPr lang="en-US" sz="900" dirty="0"/>
          </a:p>
        </p:txBody>
      </p:sp>
      <p:sp>
        <p:nvSpPr>
          <p:cNvPr id="11" name="Resource 3"/>
          <p:cNvSpPr txBox="1"/>
          <p:nvPr/>
        </p:nvSpPr>
        <p:spPr>
          <a:xfrm>
            <a:off x="6035040" y="31912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</a:rPr>
              <a:t>YouTube</a:t>
            </a:r>
            <a:endParaRPr lang="en-US" sz="1300" dirty="0"/>
          </a:p>
        </p:txBody>
      </p:sp>
      <p:sp>
        <p:nvSpPr>
          <p:cNvPr id="12" name="Resource 3 link"/>
          <p:cNvSpPr txBox="1"/>
          <p:nvPr/>
        </p:nvSpPr>
        <p:spPr>
          <a:xfrm>
            <a:off x="6035040" y="346557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7" kern="0" dirty="0">
                <a:solidFill>
                  <a:srgbClr val="1A9A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youtube.com/@buildacubesat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nt"/>
          <p:cNvSpPr txBox="1"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6D6D"/>
                </a:solidFill>
              </a:rPr>
              <a:t>Blank layout – for full-bleed images, diagrams and charts composed by hand.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94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D6D6D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ild a CubeSat">
  <a:themeElements>
    <a:clrScheme name="Build a CubeSat">
      <a:dk1>
        <a:srgbClr val="1F1F1F"/>
      </a:dk1>
      <a:lt1>
        <a:srgbClr val="FFFFFF"/>
      </a:lt1>
      <a:dk2>
        <a:srgbClr val="3F3F3F"/>
      </a:dk2>
      <a:lt2>
        <a:srgbClr val="F9F9F9"/>
      </a:lt2>
      <a:accent1>
        <a:srgbClr val="F7D400"/>
      </a:accent1>
      <a:accent2>
        <a:srgbClr val="004C8B"/>
      </a:accent2>
      <a:accent3>
        <a:srgbClr val="0E9594"/>
      </a:accent3>
      <a:accent4>
        <a:srgbClr val="7A5AF8"/>
      </a:accent4>
      <a:accent5>
        <a:srgbClr val="C64677"/>
      </a:accent5>
      <a:accent6>
        <a:srgbClr val="3FB950"/>
      </a:accent6>
      <a:hlink>
        <a:srgbClr val="0B5CAD"/>
      </a:hlink>
      <a:folHlink>
        <a:srgbClr val="0B5CAD"/>
      </a:folHlink>
    </a:clrScheme>
    <a:fontScheme name="Build a CubeSat">
      <a:majorFont>
        <a:latin typeface="Nuni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Build a CubeSat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a CubeSat slides template v1r2</dc:title>
  <dc:subject>Build a CubeSat slides template v1r2. The marks are BAC Marks of nihil.space GmbH (BAC Trademark Policy).</dc:subject>
  <dc:creator>nihil.space GmbH</dc:creator>
  <cp:lastModifiedBy>nihil.space GmbH</cp:lastModifiedBy>
  <cp:revision>1</cp:revision>
  <dcterms:created xsi:type="dcterms:W3CDTF">2026-10-30T13:19:06Z</dcterms:created>
  <dcterms:modified xsi:type="dcterms:W3CDTF">2026-10-30T13:19:06Z</dcterms:modified>
</cp:coreProperties>
</file>